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84" r:id="rId3"/>
    <p:sldId id="290" r:id="rId4"/>
    <p:sldId id="272" r:id="rId5"/>
    <p:sldId id="273" r:id="rId6"/>
    <p:sldId id="274" r:id="rId7"/>
    <p:sldId id="291" r:id="rId8"/>
    <p:sldId id="292" r:id="rId9"/>
    <p:sldId id="276" r:id="rId10"/>
    <p:sldId id="277" r:id="rId11"/>
    <p:sldId id="293" r:id="rId12"/>
    <p:sldId id="280" r:id="rId13"/>
    <p:sldId id="278" r:id="rId14"/>
    <p:sldId id="281" r:id="rId15"/>
    <p:sldId id="279" r:id="rId16"/>
    <p:sldId id="289" r:id="rId17"/>
  </p:sldIdLst>
  <p:sldSz cx="12192000" cy="6858000"/>
  <p:notesSz cx="6858000" cy="9144000"/>
  <p:embeddedFontLst>
    <p:embeddedFont>
      <p:font typeface="Century Gothic" panose="020B0502020202020204" pitchFamily="34" charset="0"/>
      <p:regular r:id="rId19"/>
      <p:bold r:id="rId20"/>
      <p:italic r:id="rId21"/>
      <p:boldItalic r:id="rId22"/>
    </p:embeddedFont>
    <p:embeddedFont>
      <p:font typeface="Noto Sans Symbols" pitchFamily="2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irjfFyYNBG5sNntC35Cbhoqt17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495A"/>
    <a:srgbClr val="F8F4EF"/>
    <a:srgbClr val="F7F5EF"/>
    <a:srgbClr val="9DB2C2"/>
    <a:srgbClr val="212121"/>
    <a:srgbClr val="292929"/>
    <a:srgbClr val="00BFB4"/>
    <a:srgbClr val="F8F4EB"/>
    <a:srgbClr val="31515F"/>
    <a:srgbClr val="2E4A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6E4630-5356-415F-AD53-668BF74548F2}" v="551" dt="2025-10-10T08:53:15.2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903" autoAdjust="0"/>
  </p:normalViewPr>
  <p:slideViewPr>
    <p:cSldViewPr snapToGrid="0">
      <p:cViewPr varScale="1">
        <p:scale>
          <a:sx n="69" d="100"/>
          <a:sy n="69" d="100"/>
        </p:scale>
        <p:origin x="81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392997-E9A7-4A6A-9246-E306288AAD7B}" type="doc">
      <dgm:prSet loTypeId="urn:microsoft.com/office/officeart/2009/3/layout/IncreasingArrows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175674AE-2C09-42F3-80BD-A644999995A8}">
      <dgm:prSet phldrT="[Texte]"/>
      <dgm:spPr/>
      <dgm:t>
        <a:bodyPr/>
        <a:lstStyle/>
        <a:p>
          <a:r>
            <a:rPr lang="fr-FR" dirty="0"/>
            <a:t>Analyser</a:t>
          </a:r>
        </a:p>
      </dgm:t>
    </dgm:pt>
    <dgm:pt modelId="{85C3B1BC-D8CA-435E-9A5B-33BE91AB1C47}" type="parTrans" cxnId="{FEEB5C75-31BB-4BAF-9EBC-B98C1AA9BBF0}">
      <dgm:prSet/>
      <dgm:spPr/>
      <dgm:t>
        <a:bodyPr/>
        <a:lstStyle/>
        <a:p>
          <a:endParaRPr lang="fr-FR"/>
        </a:p>
      </dgm:t>
    </dgm:pt>
    <dgm:pt modelId="{0C26A608-CEE3-4E81-8B1C-CDB710B42423}" type="sibTrans" cxnId="{FEEB5C75-31BB-4BAF-9EBC-B98C1AA9BBF0}">
      <dgm:prSet/>
      <dgm:spPr/>
      <dgm:t>
        <a:bodyPr/>
        <a:lstStyle/>
        <a:p>
          <a:endParaRPr lang="fr-FR"/>
        </a:p>
      </dgm:t>
    </dgm:pt>
    <dgm:pt modelId="{FB5B6A8E-5D19-4926-82A1-6A18E2128ABD}">
      <dgm:prSet phldrT="[Texte]"/>
      <dgm:spPr/>
      <dgm:t>
        <a:bodyPr/>
        <a:lstStyle/>
        <a:p>
          <a:r>
            <a:rPr lang="fr-FR" dirty="0"/>
            <a:t>et mettre en forme les données sources</a:t>
          </a:r>
        </a:p>
      </dgm:t>
    </dgm:pt>
    <dgm:pt modelId="{F09E6C0C-44E0-47F5-9181-855CC518B9DC}" type="parTrans" cxnId="{7D010A8B-34F6-47AD-9866-DEB51DF57BA9}">
      <dgm:prSet/>
      <dgm:spPr/>
      <dgm:t>
        <a:bodyPr/>
        <a:lstStyle/>
        <a:p>
          <a:endParaRPr lang="fr-FR"/>
        </a:p>
      </dgm:t>
    </dgm:pt>
    <dgm:pt modelId="{3B273F5F-5A25-4381-88C3-AA1C37AA221E}" type="sibTrans" cxnId="{7D010A8B-34F6-47AD-9866-DEB51DF57BA9}">
      <dgm:prSet/>
      <dgm:spPr/>
      <dgm:t>
        <a:bodyPr/>
        <a:lstStyle/>
        <a:p>
          <a:endParaRPr lang="fr-FR"/>
        </a:p>
      </dgm:t>
    </dgm:pt>
    <dgm:pt modelId="{81B7D974-1B70-4D8D-BA00-D185A723A36C}">
      <dgm:prSet phldrT="[Texte]"/>
      <dgm:spPr/>
      <dgm:t>
        <a:bodyPr/>
        <a:lstStyle/>
        <a:p>
          <a:r>
            <a:rPr lang="fr-FR" dirty="0"/>
            <a:t>Mettre en relation </a:t>
          </a:r>
        </a:p>
      </dgm:t>
    </dgm:pt>
    <dgm:pt modelId="{BAB8DBEA-4D26-4819-8929-8BE2579504AF}" type="parTrans" cxnId="{FF00A50D-1947-4842-AB6A-23B30859B02C}">
      <dgm:prSet/>
      <dgm:spPr/>
      <dgm:t>
        <a:bodyPr/>
        <a:lstStyle/>
        <a:p>
          <a:endParaRPr lang="fr-FR"/>
        </a:p>
      </dgm:t>
    </dgm:pt>
    <dgm:pt modelId="{812DA1EA-0B06-4545-B7BF-66A6E330BB30}" type="sibTrans" cxnId="{FF00A50D-1947-4842-AB6A-23B30859B02C}">
      <dgm:prSet/>
      <dgm:spPr/>
      <dgm:t>
        <a:bodyPr/>
        <a:lstStyle/>
        <a:p>
          <a:endParaRPr lang="fr-FR"/>
        </a:p>
      </dgm:t>
    </dgm:pt>
    <dgm:pt modelId="{ABEE0766-1653-49ED-8CAE-E64E1C9F066F}">
      <dgm:prSet phldrT="[Texte]"/>
      <dgm:spPr/>
      <dgm:t>
        <a:bodyPr/>
        <a:lstStyle/>
        <a:p>
          <a:pPr>
            <a:buSzPts val="1800"/>
            <a:buNone/>
          </a:pPr>
          <a:r>
            <a:rPr lang="fr-FR" dirty="0"/>
            <a:t>les bases de données</a:t>
          </a:r>
        </a:p>
      </dgm:t>
    </dgm:pt>
    <dgm:pt modelId="{C51275B9-380E-4E88-B684-40698EB0495C}" type="parTrans" cxnId="{74CD8896-4E89-4036-92DC-BCCC088EC2B6}">
      <dgm:prSet/>
      <dgm:spPr/>
      <dgm:t>
        <a:bodyPr/>
        <a:lstStyle/>
        <a:p>
          <a:endParaRPr lang="fr-FR"/>
        </a:p>
      </dgm:t>
    </dgm:pt>
    <dgm:pt modelId="{36FB9D61-2494-4345-BBF2-9AB86C8F3D13}" type="sibTrans" cxnId="{74CD8896-4E89-4036-92DC-BCCC088EC2B6}">
      <dgm:prSet/>
      <dgm:spPr/>
      <dgm:t>
        <a:bodyPr/>
        <a:lstStyle/>
        <a:p>
          <a:endParaRPr lang="fr-FR"/>
        </a:p>
      </dgm:t>
    </dgm:pt>
    <dgm:pt modelId="{D3E76BF6-D112-464A-B118-6FDE0592ADA9}">
      <dgm:prSet phldrT="[Texte]"/>
      <dgm:spPr/>
      <dgm:t>
        <a:bodyPr/>
        <a:lstStyle/>
        <a:p>
          <a:r>
            <a:rPr lang="fr-FR" dirty="0"/>
            <a:t>Etudier</a:t>
          </a:r>
        </a:p>
      </dgm:t>
    </dgm:pt>
    <dgm:pt modelId="{16504D99-99F2-4F6A-BFBD-BAD9B9486F14}" type="parTrans" cxnId="{CC338BE0-C74B-489E-AC97-F4DA89AF1818}">
      <dgm:prSet/>
      <dgm:spPr/>
      <dgm:t>
        <a:bodyPr/>
        <a:lstStyle/>
        <a:p>
          <a:endParaRPr lang="fr-FR"/>
        </a:p>
      </dgm:t>
    </dgm:pt>
    <dgm:pt modelId="{05B45683-6E85-4D93-BEA9-56D669A220DA}" type="sibTrans" cxnId="{CC338BE0-C74B-489E-AC97-F4DA89AF1818}">
      <dgm:prSet/>
      <dgm:spPr/>
      <dgm:t>
        <a:bodyPr/>
        <a:lstStyle/>
        <a:p>
          <a:endParaRPr lang="fr-FR"/>
        </a:p>
      </dgm:t>
    </dgm:pt>
    <dgm:pt modelId="{CA842863-FC18-4302-9942-3C58C57ECD91}">
      <dgm:prSet phldrT="[Texte]"/>
      <dgm:spPr/>
      <dgm:t>
        <a:bodyPr/>
        <a:lstStyle/>
        <a:p>
          <a:r>
            <a:rPr lang="fr-FR" dirty="0"/>
            <a:t>Révéler</a:t>
          </a:r>
        </a:p>
      </dgm:t>
    </dgm:pt>
    <dgm:pt modelId="{E72ED120-4FAA-4574-909B-BDC85727E7A8}" type="parTrans" cxnId="{E676F7A2-D4A0-42F2-89A8-2B63AD66A1D9}">
      <dgm:prSet/>
      <dgm:spPr/>
      <dgm:t>
        <a:bodyPr/>
        <a:lstStyle/>
        <a:p>
          <a:endParaRPr lang="fr-FR"/>
        </a:p>
      </dgm:t>
    </dgm:pt>
    <dgm:pt modelId="{3B3507C4-3A47-4E29-AA26-4E63410F763D}" type="sibTrans" cxnId="{E676F7A2-D4A0-42F2-89A8-2B63AD66A1D9}">
      <dgm:prSet/>
      <dgm:spPr/>
      <dgm:t>
        <a:bodyPr/>
        <a:lstStyle/>
        <a:p>
          <a:endParaRPr lang="fr-FR"/>
        </a:p>
      </dgm:t>
    </dgm:pt>
    <dgm:pt modelId="{777E53A1-989B-4A7F-962E-BC6DB46F7E8E}">
      <dgm:prSet phldrT="[Texte]"/>
      <dgm:spPr/>
      <dgm:t>
        <a:bodyPr/>
        <a:lstStyle/>
        <a:p>
          <a:r>
            <a:rPr lang="fr-FR"/>
            <a:t>des corrélations cachées</a:t>
          </a:r>
          <a:endParaRPr lang="fr-FR" dirty="0"/>
        </a:p>
      </dgm:t>
    </dgm:pt>
    <dgm:pt modelId="{20E53EE6-5ED2-4F9F-9093-7C4AC3BDE6B5}" type="parTrans" cxnId="{5419EA4E-2AFF-434E-8C96-B9B4006F1A77}">
      <dgm:prSet/>
      <dgm:spPr/>
      <dgm:t>
        <a:bodyPr/>
        <a:lstStyle/>
        <a:p>
          <a:endParaRPr lang="fr-FR"/>
        </a:p>
      </dgm:t>
    </dgm:pt>
    <dgm:pt modelId="{FAD03B47-8D4B-4B5D-8FBF-29B453ED1838}" type="sibTrans" cxnId="{5419EA4E-2AFF-434E-8C96-B9B4006F1A77}">
      <dgm:prSet/>
      <dgm:spPr/>
      <dgm:t>
        <a:bodyPr/>
        <a:lstStyle/>
        <a:p>
          <a:endParaRPr lang="fr-FR"/>
        </a:p>
      </dgm:t>
    </dgm:pt>
    <dgm:pt modelId="{05D16FED-BBD5-4A6C-8B26-7DD03B9DEE3F}">
      <dgm:prSet phldrT="[Texte]"/>
      <dgm:spPr/>
      <dgm:t>
        <a:bodyPr/>
        <a:lstStyle/>
        <a:p>
          <a:r>
            <a:rPr lang="fr-FR" dirty="0"/>
            <a:t>du plus global vers le plus spécifique</a:t>
          </a:r>
        </a:p>
      </dgm:t>
    </dgm:pt>
    <dgm:pt modelId="{3A3C668D-B430-4B0C-B90D-987390A341C2}" type="parTrans" cxnId="{EB89F609-7925-494E-A727-D76732A7D7CF}">
      <dgm:prSet/>
      <dgm:spPr/>
      <dgm:t>
        <a:bodyPr/>
        <a:lstStyle/>
        <a:p>
          <a:endParaRPr lang="fr-FR"/>
        </a:p>
      </dgm:t>
    </dgm:pt>
    <dgm:pt modelId="{BBC5E778-7CB1-4B91-AC9F-E414F3B7A7DE}" type="sibTrans" cxnId="{EB89F609-7925-494E-A727-D76732A7D7CF}">
      <dgm:prSet/>
      <dgm:spPr/>
      <dgm:t>
        <a:bodyPr/>
        <a:lstStyle/>
        <a:p>
          <a:endParaRPr lang="fr-FR"/>
        </a:p>
      </dgm:t>
    </dgm:pt>
    <dgm:pt modelId="{F429B113-26D7-4E7F-A435-E91AA310D585}" type="pres">
      <dgm:prSet presAssocID="{A1392997-E9A7-4A6A-9246-E306288AAD7B}" presName="Name0" presStyleCnt="0">
        <dgm:presLayoutVars>
          <dgm:chMax val="5"/>
          <dgm:chPref val="5"/>
          <dgm:dir/>
          <dgm:animLvl val="lvl"/>
        </dgm:presLayoutVars>
      </dgm:prSet>
      <dgm:spPr/>
    </dgm:pt>
    <dgm:pt modelId="{DE788C33-8AFB-4071-AF51-413684C4521A}" type="pres">
      <dgm:prSet presAssocID="{175674AE-2C09-42F3-80BD-A644999995A8}" presName="parentText1" presStyleLbl="node1" presStyleIdx="0" presStyleCnt="4">
        <dgm:presLayoutVars>
          <dgm:chMax/>
          <dgm:chPref val="3"/>
          <dgm:bulletEnabled val="1"/>
        </dgm:presLayoutVars>
      </dgm:prSet>
      <dgm:spPr/>
    </dgm:pt>
    <dgm:pt modelId="{4FFA2DE4-4A2D-4416-BB55-04111A8E0EFC}" type="pres">
      <dgm:prSet presAssocID="{175674AE-2C09-42F3-80BD-A644999995A8}" presName="childText1" presStyleLbl="solidAlignAcc1" presStyleIdx="0" presStyleCnt="4">
        <dgm:presLayoutVars>
          <dgm:chMax val="0"/>
          <dgm:chPref val="0"/>
          <dgm:bulletEnabled val="1"/>
        </dgm:presLayoutVars>
      </dgm:prSet>
      <dgm:spPr/>
    </dgm:pt>
    <dgm:pt modelId="{6F92BC55-ED9E-45F6-BF4D-EE57257D107F}" type="pres">
      <dgm:prSet presAssocID="{81B7D974-1B70-4D8D-BA00-D185A723A36C}" presName="parentText2" presStyleLbl="node1" presStyleIdx="1" presStyleCnt="4">
        <dgm:presLayoutVars>
          <dgm:chMax/>
          <dgm:chPref val="3"/>
          <dgm:bulletEnabled val="1"/>
        </dgm:presLayoutVars>
      </dgm:prSet>
      <dgm:spPr/>
    </dgm:pt>
    <dgm:pt modelId="{258DCF3F-07BC-4007-B971-CBEBE927B1F1}" type="pres">
      <dgm:prSet presAssocID="{81B7D974-1B70-4D8D-BA00-D185A723A36C}" presName="childText2" presStyleLbl="solidAlignAcc1" presStyleIdx="1" presStyleCnt="4">
        <dgm:presLayoutVars>
          <dgm:chMax val="0"/>
          <dgm:chPref val="0"/>
          <dgm:bulletEnabled val="1"/>
        </dgm:presLayoutVars>
      </dgm:prSet>
      <dgm:spPr/>
    </dgm:pt>
    <dgm:pt modelId="{90BD1CFE-1148-4C42-AA4D-41BC91A4743A}" type="pres">
      <dgm:prSet presAssocID="{D3E76BF6-D112-464A-B118-6FDE0592ADA9}" presName="parentText3" presStyleLbl="node1" presStyleIdx="2" presStyleCnt="4">
        <dgm:presLayoutVars>
          <dgm:chMax/>
          <dgm:chPref val="3"/>
          <dgm:bulletEnabled val="1"/>
        </dgm:presLayoutVars>
      </dgm:prSet>
      <dgm:spPr/>
    </dgm:pt>
    <dgm:pt modelId="{9872BBB5-0E08-46DA-AA87-8AE0C82DB818}" type="pres">
      <dgm:prSet presAssocID="{D3E76BF6-D112-464A-B118-6FDE0592ADA9}" presName="childText3" presStyleLbl="solidAlignAcc1" presStyleIdx="2" presStyleCnt="4">
        <dgm:presLayoutVars>
          <dgm:chMax val="0"/>
          <dgm:chPref val="0"/>
          <dgm:bulletEnabled val="1"/>
        </dgm:presLayoutVars>
      </dgm:prSet>
      <dgm:spPr/>
    </dgm:pt>
    <dgm:pt modelId="{04F605B1-0A84-4900-A817-CB5D5B43A3FC}" type="pres">
      <dgm:prSet presAssocID="{CA842863-FC18-4302-9942-3C58C57ECD91}" presName="parentText4" presStyleLbl="node1" presStyleIdx="3" presStyleCnt="4">
        <dgm:presLayoutVars>
          <dgm:chMax/>
          <dgm:chPref val="3"/>
          <dgm:bulletEnabled val="1"/>
        </dgm:presLayoutVars>
      </dgm:prSet>
      <dgm:spPr/>
    </dgm:pt>
    <dgm:pt modelId="{131579C2-E6C0-4CFA-ADA0-88C3C76E5878}" type="pres">
      <dgm:prSet presAssocID="{CA842863-FC18-4302-9942-3C58C57ECD91}" presName="childText4" presStyleLbl="solidAlignAcc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66C8F00-453B-4491-86D3-E4200642B85E}" type="presOf" srcId="{175674AE-2C09-42F3-80BD-A644999995A8}" destId="{DE788C33-8AFB-4071-AF51-413684C4521A}" srcOrd="0" destOrd="0" presId="urn:microsoft.com/office/officeart/2009/3/layout/IncreasingArrowsProcess"/>
    <dgm:cxn modelId="{EB89F609-7925-494E-A727-D76732A7D7CF}" srcId="{D3E76BF6-D112-464A-B118-6FDE0592ADA9}" destId="{05D16FED-BBD5-4A6C-8B26-7DD03B9DEE3F}" srcOrd="0" destOrd="0" parTransId="{3A3C668D-B430-4B0C-B90D-987390A341C2}" sibTransId="{BBC5E778-7CB1-4B91-AC9F-E414F3B7A7DE}"/>
    <dgm:cxn modelId="{FF00A50D-1947-4842-AB6A-23B30859B02C}" srcId="{A1392997-E9A7-4A6A-9246-E306288AAD7B}" destId="{81B7D974-1B70-4D8D-BA00-D185A723A36C}" srcOrd="1" destOrd="0" parTransId="{BAB8DBEA-4D26-4819-8929-8BE2579504AF}" sibTransId="{812DA1EA-0B06-4545-B7BF-66A6E330BB30}"/>
    <dgm:cxn modelId="{8E21C637-716C-4F03-BEB0-4179EEC9C3E4}" type="presOf" srcId="{05D16FED-BBD5-4A6C-8B26-7DD03B9DEE3F}" destId="{9872BBB5-0E08-46DA-AA87-8AE0C82DB818}" srcOrd="0" destOrd="0" presId="urn:microsoft.com/office/officeart/2009/3/layout/IncreasingArrowsProcess"/>
    <dgm:cxn modelId="{D3045A47-370C-4E01-B068-EB79F2BD3A70}" type="presOf" srcId="{FB5B6A8E-5D19-4926-82A1-6A18E2128ABD}" destId="{4FFA2DE4-4A2D-4416-BB55-04111A8E0EFC}" srcOrd="0" destOrd="0" presId="urn:microsoft.com/office/officeart/2009/3/layout/IncreasingArrowsProcess"/>
    <dgm:cxn modelId="{5419EA4E-2AFF-434E-8C96-B9B4006F1A77}" srcId="{CA842863-FC18-4302-9942-3C58C57ECD91}" destId="{777E53A1-989B-4A7F-962E-BC6DB46F7E8E}" srcOrd="0" destOrd="0" parTransId="{20E53EE6-5ED2-4F9F-9093-7C4AC3BDE6B5}" sibTransId="{FAD03B47-8D4B-4B5D-8FBF-29B453ED1838}"/>
    <dgm:cxn modelId="{07F14473-CC00-48AE-90AD-617FE95EF955}" type="presOf" srcId="{81B7D974-1B70-4D8D-BA00-D185A723A36C}" destId="{6F92BC55-ED9E-45F6-BF4D-EE57257D107F}" srcOrd="0" destOrd="0" presId="urn:microsoft.com/office/officeart/2009/3/layout/IncreasingArrowsProcess"/>
    <dgm:cxn modelId="{FEEB5C75-31BB-4BAF-9EBC-B98C1AA9BBF0}" srcId="{A1392997-E9A7-4A6A-9246-E306288AAD7B}" destId="{175674AE-2C09-42F3-80BD-A644999995A8}" srcOrd="0" destOrd="0" parTransId="{85C3B1BC-D8CA-435E-9A5B-33BE91AB1C47}" sibTransId="{0C26A608-CEE3-4E81-8B1C-CDB710B42423}"/>
    <dgm:cxn modelId="{7D010A8B-34F6-47AD-9866-DEB51DF57BA9}" srcId="{175674AE-2C09-42F3-80BD-A644999995A8}" destId="{FB5B6A8E-5D19-4926-82A1-6A18E2128ABD}" srcOrd="0" destOrd="0" parTransId="{F09E6C0C-44E0-47F5-9181-855CC518B9DC}" sibTransId="{3B273F5F-5A25-4381-88C3-AA1C37AA221E}"/>
    <dgm:cxn modelId="{74CD8896-4E89-4036-92DC-BCCC088EC2B6}" srcId="{81B7D974-1B70-4D8D-BA00-D185A723A36C}" destId="{ABEE0766-1653-49ED-8CAE-E64E1C9F066F}" srcOrd="0" destOrd="0" parTransId="{C51275B9-380E-4E88-B684-40698EB0495C}" sibTransId="{36FB9D61-2494-4345-BBF2-9AB86C8F3D13}"/>
    <dgm:cxn modelId="{E676F7A2-D4A0-42F2-89A8-2B63AD66A1D9}" srcId="{A1392997-E9A7-4A6A-9246-E306288AAD7B}" destId="{CA842863-FC18-4302-9942-3C58C57ECD91}" srcOrd="3" destOrd="0" parTransId="{E72ED120-4FAA-4574-909B-BDC85727E7A8}" sibTransId="{3B3507C4-3A47-4E29-AA26-4E63410F763D}"/>
    <dgm:cxn modelId="{B84CA6B5-8606-4BC7-9DD0-DD876D58D747}" type="presOf" srcId="{A1392997-E9A7-4A6A-9246-E306288AAD7B}" destId="{F429B113-26D7-4E7F-A435-E91AA310D585}" srcOrd="0" destOrd="0" presId="urn:microsoft.com/office/officeart/2009/3/layout/IncreasingArrowsProcess"/>
    <dgm:cxn modelId="{42501EBB-291F-47E6-837C-DC49B3D44AAE}" type="presOf" srcId="{777E53A1-989B-4A7F-962E-BC6DB46F7E8E}" destId="{131579C2-E6C0-4CFA-ADA0-88C3C76E5878}" srcOrd="0" destOrd="0" presId="urn:microsoft.com/office/officeart/2009/3/layout/IncreasingArrowsProcess"/>
    <dgm:cxn modelId="{A7AAFDC6-8245-4188-BDB3-A6933820246F}" type="presOf" srcId="{ABEE0766-1653-49ED-8CAE-E64E1C9F066F}" destId="{258DCF3F-07BC-4007-B971-CBEBE927B1F1}" srcOrd="0" destOrd="0" presId="urn:microsoft.com/office/officeart/2009/3/layout/IncreasingArrowsProcess"/>
    <dgm:cxn modelId="{3CFFC9C7-2A9C-4112-8952-633F56AA3DFD}" type="presOf" srcId="{CA842863-FC18-4302-9942-3C58C57ECD91}" destId="{04F605B1-0A84-4900-A817-CB5D5B43A3FC}" srcOrd="0" destOrd="0" presId="urn:microsoft.com/office/officeart/2009/3/layout/IncreasingArrowsProcess"/>
    <dgm:cxn modelId="{564585CF-2ADA-4C6E-907A-8EC977622993}" type="presOf" srcId="{D3E76BF6-D112-464A-B118-6FDE0592ADA9}" destId="{90BD1CFE-1148-4C42-AA4D-41BC91A4743A}" srcOrd="0" destOrd="0" presId="urn:microsoft.com/office/officeart/2009/3/layout/IncreasingArrowsProcess"/>
    <dgm:cxn modelId="{CC338BE0-C74B-489E-AC97-F4DA89AF1818}" srcId="{A1392997-E9A7-4A6A-9246-E306288AAD7B}" destId="{D3E76BF6-D112-464A-B118-6FDE0592ADA9}" srcOrd="2" destOrd="0" parTransId="{16504D99-99F2-4F6A-BFBD-BAD9B9486F14}" sibTransId="{05B45683-6E85-4D93-BEA9-56D669A220DA}"/>
    <dgm:cxn modelId="{F3D842C1-4801-406D-B471-96767C4D50D3}" type="presParOf" srcId="{F429B113-26D7-4E7F-A435-E91AA310D585}" destId="{DE788C33-8AFB-4071-AF51-413684C4521A}" srcOrd="0" destOrd="0" presId="urn:microsoft.com/office/officeart/2009/3/layout/IncreasingArrowsProcess"/>
    <dgm:cxn modelId="{D091D844-E25F-4BE2-BA10-A50B7B36B078}" type="presParOf" srcId="{F429B113-26D7-4E7F-A435-E91AA310D585}" destId="{4FFA2DE4-4A2D-4416-BB55-04111A8E0EFC}" srcOrd="1" destOrd="0" presId="urn:microsoft.com/office/officeart/2009/3/layout/IncreasingArrowsProcess"/>
    <dgm:cxn modelId="{D1D027C8-C709-4C46-899E-01C87A17DCD9}" type="presParOf" srcId="{F429B113-26D7-4E7F-A435-E91AA310D585}" destId="{6F92BC55-ED9E-45F6-BF4D-EE57257D107F}" srcOrd="2" destOrd="0" presId="urn:microsoft.com/office/officeart/2009/3/layout/IncreasingArrowsProcess"/>
    <dgm:cxn modelId="{EBCD4194-A14A-4578-BFFC-A24B64638ACE}" type="presParOf" srcId="{F429B113-26D7-4E7F-A435-E91AA310D585}" destId="{258DCF3F-07BC-4007-B971-CBEBE927B1F1}" srcOrd="3" destOrd="0" presId="urn:microsoft.com/office/officeart/2009/3/layout/IncreasingArrowsProcess"/>
    <dgm:cxn modelId="{979D8F0A-2329-4D9D-B406-0CFAD984B3D5}" type="presParOf" srcId="{F429B113-26D7-4E7F-A435-E91AA310D585}" destId="{90BD1CFE-1148-4C42-AA4D-41BC91A4743A}" srcOrd="4" destOrd="0" presId="urn:microsoft.com/office/officeart/2009/3/layout/IncreasingArrowsProcess"/>
    <dgm:cxn modelId="{DDCAC478-FFF9-4253-93BD-B9711E37ADCE}" type="presParOf" srcId="{F429B113-26D7-4E7F-A435-E91AA310D585}" destId="{9872BBB5-0E08-46DA-AA87-8AE0C82DB818}" srcOrd="5" destOrd="0" presId="urn:microsoft.com/office/officeart/2009/3/layout/IncreasingArrowsProcess"/>
    <dgm:cxn modelId="{3E4580C7-61A7-4D21-BB60-2650865CA82A}" type="presParOf" srcId="{F429B113-26D7-4E7F-A435-E91AA310D585}" destId="{04F605B1-0A84-4900-A817-CB5D5B43A3FC}" srcOrd="6" destOrd="0" presId="urn:microsoft.com/office/officeart/2009/3/layout/IncreasingArrowsProcess"/>
    <dgm:cxn modelId="{FEBB9212-6E6C-42FB-927B-A29B66FACCBC}" type="presParOf" srcId="{F429B113-26D7-4E7F-A435-E91AA310D585}" destId="{131579C2-E6C0-4CFA-ADA0-88C3C76E5878}" srcOrd="7" destOrd="0" presId="urn:microsoft.com/office/officeart/2009/3/layout/IncreasingArrows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788C33-8AFB-4071-AF51-413684C4521A}">
      <dsp:nvSpPr>
        <dsp:cNvPr id="0" name=""/>
        <dsp:cNvSpPr/>
      </dsp:nvSpPr>
      <dsp:spPr>
        <a:xfrm>
          <a:off x="0" y="1038513"/>
          <a:ext cx="6361231" cy="926099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254000" bIns="14701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Analyser</a:t>
          </a:r>
        </a:p>
      </dsp:txBody>
      <dsp:txXfrm>
        <a:off x="0" y="1270038"/>
        <a:ext cx="6129706" cy="463049"/>
      </dsp:txXfrm>
    </dsp:sp>
    <dsp:sp modelId="{4FFA2DE4-4A2D-4416-BB55-04111A8E0EFC}">
      <dsp:nvSpPr>
        <dsp:cNvPr id="0" name=""/>
        <dsp:cNvSpPr/>
      </dsp:nvSpPr>
      <dsp:spPr>
        <a:xfrm>
          <a:off x="0" y="1754180"/>
          <a:ext cx="1466263" cy="171300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et mettre en forme les données sources</a:t>
          </a:r>
        </a:p>
      </dsp:txBody>
      <dsp:txXfrm>
        <a:off x="0" y="1754180"/>
        <a:ext cx="1466263" cy="1713005"/>
      </dsp:txXfrm>
    </dsp:sp>
    <dsp:sp modelId="{6F92BC55-ED9E-45F6-BF4D-EE57257D107F}">
      <dsp:nvSpPr>
        <dsp:cNvPr id="0" name=""/>
        <dsp:cNvSpPr/>
      </dsp:nvSpPr>
      <dsp:spPr>
        <a:xfrm>
          <a:off x="1466263" y="1347103"/>
          <a:ext cx="4894967" cy="926099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254000" bIns="14701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Mettre en relation </a:t>
          </a:r>
        </a:p>
      </dsp:txBody>
      <dsp:txXfrm>
        <a:off x="1466263" y="1578628"/>
        <a:ext cx="4663442" cy="463049"/>
      </dsp:txXfrm>
    </dsp:sp>
    <dsp:sp modelId="{258DCF3F-07BC-4007-B971-CBEBE927B1F1}">
      <dsp:nvSpPr>
        <dsp:cNvPr id="0" name=""/>
        <dsp:cNvSpPr/>
      </dsp:nvSpPr>
      <dsp:spPr>
        <a:xfrm>
          <a:off x="1466263" y="2062770"/>
          <a:ext cx="1466263" cy="16693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800"/>
            <a:buNone/>
          </a:pPr>
          <a:r>
            <a:rPr lang="fr-FR" sz="1800" kern="1200" dirty="0"/>
            <a:t>les bases de données</a:t>
          </a:r>
        </a:p>
      </dsp:txBody>
      <dsp:txXfrm>
        <a:off x="1466263" y="2062770"/>
        <a:ext cx="1466263" cy="1669343"/>
      </dsp:txXfrm>
    </dsp:sp>
    <dsp:sp modelId="{90BD1CFE-1148-4C42-AA4D-41BC91A4743A}">
      <dsp:nvSpPr>
        <dsp:cNvPr id="0" name=""/>
        <dsp:cNvSpPr/>
      </dsp:nvSpPr>
      <dsp:spPr>
        <a:xfrm>
          <a:off x="2932527" y="1655694"/>
          <a:ext cx="3428703" cy="926099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254000" bIns="14701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Etudier</a:t>
          </a:r>
        </a:p>
      </dsp:txBody>
      <dsp:txXfrm>
        <a:off x="2932527" y="1887219"/>
        <a:ext cx="3197178" cy="463049"/>
      </dsp:txXfrm>
    </dsp:sp>
    <dsp:sp modelId="{9872BBB5-0E08-46DA-AA87-8AE0C82DB818}">
      <dsp:nvSpPr>
        <dsp:cNvPr id="0" name=""/>
        <dsp:cNvSpPr/>
      </dsp:nvSpPr>
      <dsp:spPr>
        <a:xfrm>
          <a:off x="2932527" y="2371361"/>
          <a:ext cx="1466263" cy="168050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du plus global vers le plus spécifique</a:t>
          </a:r>
        </a:p>
      </dsp:txBody>
      <dsp:txXfrm>
        <a:off x="2932527" y="2371361"/>
        <a:ext cx="1466263" cy="1680504"/>
      </dsp:txXfrm>
    </dsp:sp>
    <dsp:sp modelId="{04F605B1-0A84-4900-A817-CB5D5B43A3FC}">
      <dsp:nvSpPr>
        <dsp:cNvPr id="0" name=""/>
        <dsp:cNvSpPr/>
      </dsp:nvSpPr>
      <dsp:spPr>
        <a:xfrm>
          <a:off x="4398791" y="1964284"/>
          <a:ext cx="1962439" cy="926099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254000" bIns="14701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Révéler</a:t>
          </a:r>
        </a:p>
      </dsp:txBody>
      <dsp:txXfrm>
        <a:off x="4398791" y="2195809"/>
        <a:ext cx="1730914" cy="463049"/>
      </dsp:txXfrm>
    </dsp:sp>
    <dsp:sp modelId="{131579C2-E6C0-4CFA-ADA0-88C3C76E5878}">
      <dsp:nvSpPr>
        <dsp:cNvPr id="0" name=""/>
        <dsp:cNvSpPr/>
      </dsp:nvSpPr>
      <dsp:spPr>
        <a:xfrm>
          <a:off x="4398791" y="2679951"/>
          <a:ext cx="1479622" cy="170020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/>
            <a:t>des corrélations cachées</a:t>
          </a:r>
          <a:endParaRPr lang="fr-FR" sz="1800" kern="1200" dirty="0"/>
        </a:p>
      </dsp:txBody>
      <dsp:txXfrm>
        <a:off x="4398791" y="2679951"/>
        <a:ext cx="1479622" cy="17002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IncreasingArrowsProcess">
  <dgm:title val=""/>
  <dgm:desc val=""/>
  <dgm:catLst>
    <dgm:cat type="process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 val="5"/>
      <dgm:chPref val="5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axis="ch ch" ptType="node node" func="cnt" op="equ" val="0">
            <dgm:alg type="composite">
              <dgm:param type="ar" val="6.8662"/>
            </dgm:alg>
            <dgm:choose name="Name5">
              <dgm:if name="Name6" func="var" arg="dir" op="equ" val="norm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if>
              <dgm:else name="Name7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else>
            </dgm:choose>
          </dgm:if>
          <dgm:else name="Name8">
            <dgm:alg type="composite">
              <dgm:param type="ar" val="1.9864"/>
            </dgm:alg>
            <dgm:choose name="Name9">
              <dgm:if name="Name1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if>
              <dgm:else name="Name1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.076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axis="ch ch" ptType="node node" func="cnt" op="equ" val="0">
            <dgm:alg type="composite">
              <dgm:param type="ar" val="5.1498"/>
            </dgm:alg>
            <dgm:choose name="Name15">
              <dgm:if name="Name1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.462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if>
              <dgm:else name="Name1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else>
            </dgm:choose>
          </dgm:if>
          <dgm:else name="Name18">
            <dgm:alg type="composite">
              <dgm:param type="ar" val="2.0563"/>
            </dgm:alg>
            <dgm:choose name="Name19">
              <dgm:if name="Name2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.462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462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if>
              <dgm:else name="Name2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.538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076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axis="ch ch" ptType="node node" func="cnt" op="equ" val="0">
            <dgm:alg type="composite">
              <dgm:param type="ar" val="4.1198"/>
            </dgm:alg>
            <dgm:choose name="Name25">
              <dgm:if name="Name2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.308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.616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if>
              <dgm:else name="Name2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else>
            </dgm:choose>
          </dgm:if>
          <dgm:else name="Name28">
            <dgm:alg type="composite">
              <dgm:param type="ar" val="2.0702"/>
            </dgm:alg>
            <dgm:choose name="Name29">
              <dgm:if name="Name3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08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61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.308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.616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if>
              <dgm:else name="Name3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.692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84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07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axis="ch ch" ptType="node node" func="cnt" op="equ" val="0">
            <dgm:alg type="composite">
              <dgm:param type="ar" val="3.435"/>
            </dgm:alg>
            <dgm:choose name="Name35">
              <dgm:if name="Name3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.2305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.461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.6915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if>
              <dgm:else name="Name3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else>
            </dgm:choose>
          </dgm:if>
          <dgm:else name="Name38">
            <dgm:alg type="composite">
              <dgm:param type="ar" val="1.9377"/>
            </dgm:alg>
            <dgm:choose name="Name39">
              <dgm:if name="Name4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2305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461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6915"/>
                  <dgm:constr type="t" for="ch" forName="childText4" refType="h" fact="0.5"/>
                  <dgm:constr type="w" for="ch" forName="childText4" refType="w" fact="0.232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.2305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.461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.6915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if>
              <dgm:else name="Name4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.7695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539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3085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076"/>
                  <dgm:constr type="t" for="ch" forName="childText4" refType="h" fact="0.5"/>
                  <dgm:constr type="w" for="ch" forName="childText4" refType="w" fact="0.234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else>
            </dgm:choose>
          </dgm:else>
        </dgm:choose>
      </dgm:if>
      <dgm:else name="Name42">
        <dgm:choose name="Name43">
          <dgm:if name="Name44" axis="ch ch" ptType="node node" func="cnt" op="equ" val="0">
            <dgm:alg type="composite">
              <dgm:param type="ar" val="2.9463"/>
            </dgm:alg>
            <dgm:choose name="Name45">
              <dgm:if name="Name4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.1848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.3696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.5545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.7393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if>
              <dgm:else name="Name4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else>
            </dgm:choose>
          </dgm:if>
          <dgm:else name="Name48">
            <dgm:alg type="composite">
              <dgm:param type="ar" val="1.7837"/>
            </dgm:alg>
            <dgm:choose name="Name49">
              <dgm:if name="Name5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1848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3696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5545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7393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.1848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.3696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.5545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.7393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if>
              <dgm:else name="Name5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.81518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63036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44554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26072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0759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else>
            </dgm:choose>
          </dgm:else>
        </dgm:choose>
      </dgm:else>
    </dgm:choose>
    <dgm:forEach name="Name52" axis="ch" ptType="node" cnt="1">
      <dgm:layoutNode name="parentText1" styleLbl="node1">
        <dgm:varLst>
          <dgm:chMax/>
          <dgm:chPref val="3"/>
          <dgm:bulletEnabled val="1"/>
        </dgm:varLst>
        <dgm:choose name="Name53">
          <dgm:if name="Name54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55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56">
        <dgm:if name="Name57" axis="ch" ptType="node" func="cnt" op="gte" val="1">
          <dgm:layoutNode name="childText1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8"/>
      </dgm:choose>
    </dgm:forEach>
    <dgm:forEach name="Name59" axis="ch" ptType="node" st="2" cnt="1">
      <dgm:layoutNode name="parentText2" styleLbl="node1">
        <dgm:varLst>
          <dgm:chMax/>
          <dgm:chPref val="3"/>
          <dgm:bulletEnabled val="1"/>
        </dgm:varLst>
        <dgm:choose name="Name60">
          <dgm:if name="Name61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2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63">
        <dgm:if name="Name64" axis="ch" ptType="node" func="cnt" op="gte" val="1">
          <dgm:layoutNode name="childText2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5"/>
      </dgm:choose>
    </dgm:forEach>
    <dgm:forEach name="Name66" axis="ch" ptType="node" st="3" cnt="1">
      <dgm:layoutNode name="parentText3" styleLbl="node1">
        <dgm:varLst>
          <dgm:chMax/>
          <dgm:chPref val="3"/>
          <dgm:bulletEnabled val="1"/>
        </dgm:varLst>
        <dgm:choose name="Name67">
          <dgm:if name="Name68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9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0">
        <dgm:if name="Name71" axis="ch" ptType="node" func="cnt" op="gte" val="1">
          <dgm:layoutNode name="childText3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</dgm:forEach>
    <dgm:forEach name="Name73" axis="ch" ptType="node" st="4" cnt="1">
      <dgm:layoutNode name="parentText4" styleLbl="node1">
        <dgm:varLst>
          <dgm:chMax/>
          <dgm:chPref val="3"/>
          <dgm:bulletEnabled val="1"/>
        </dgm:varLst>
        <dgm:choose name="Name74">
          <dgm:if name="Name75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76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7">
        <dgm:if name="Name78" axis="ch" ptType="node" func="cnt" op="gte" val="1">
          <dgm:layoutNode name="childText4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9"/>
      </dgm:choose>
    </dgm:forEach>
    <dgm:forEach name="Name80" axis="ch" ptType="node" st="5" cnt="1">
      <dgm:layoutNode name="parentText5" styleLbl="node1">
        <dgm:varLst>
          <dgm:chMax/>
          <dgm:chPref val="3"/>
          <dgm:bulletEnabled val="1"/>
        </dgm:varLst>
        <dgm:choose name="Name81">
          <dgm:if name="Name82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83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84">
        <dgm:if name="Name85" axis="ch" ptType="node" func="cnt" op="gte" val="1">
          <dgm:layoutNode name="childText5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8" name="Google Shape;1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fr-F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33848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fr-F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92741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fr-F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029537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fr-F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067920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Ethiopie = 2eme pays d’Afrique en population dont 136 millions en sous nutrition contre 31 millions pour Haïti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fr-F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051666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Nous n’avons aucune donnée sur la population en sous-nutrition en République centrafricaine, en Zambie, Au Zimbabwe et en Ouganda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fr-F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16029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Niveau de disponibilité alimentaire proche du seuil de 2940kcal donc théoriquement le pays peut subvenir aux besoins de sa population.</a:t>
            </a:r>
          </a:p>
          <a:p>
            <a:r>
              <a:rPr lang="fr-FR" dirty="0"/>
              <a:t>Cependant, 9% de sa population souffre de sous-nutrition : le problème est davantage lié à la répartition et à l’accès (revenus, pauvreté, zones rurales, prix des denrées) qu’à la production en elle-même.</a:t>
            </a:r>
          </a:p>
          <a:p>
            <a:r>
              <a:rPr lang="fr-FR" dirty="0"/>
              <a:t>La Thaïlande exporte 83 % du manioc qu’elle produit, ce qui révèle une priorité donnée aux débouchés internationaux plutôt qu’à la consommation domestique limitant la disponibilité locale</a:t>
            </a:r>
          </a:p>
          <a:p>
            <a:r>
              <a:rPr lang="fr-FR" dirty="0"/>
              <a:t>La Thaïlande dispose d’une capacité de production alimentaire largement suffisante, mais la sous-nutrition persiste en raison de déséquilibres économiques, d’orientations commerciales tournées vers l’exportation et d’inégalités d’accès aux ressources alimentaires.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fr-F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47011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fr-FR" dirty="0"/>
              <a:t>Guerre civile yéménite à partir de 2014</a:t>
            </a:r>
          </a:p>
          <a:p>
            <a:r>
              <a:rPr lang="fr-FR" dirty="0"/>
              <a:t>guerre du Sahel (Niger notamment) à partir de 2003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fr-FR" dirty="0"/>
              <a:t>Guerre civile syrienne (2011-2024)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fr-F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86934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/>
          <p:nvPr/>
        </p:nvSpPr>
        <p:spPr>
          <a:xfrm>
            <a:off x="0" y="-3175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Google Shape;17;p17"/>
          <p:cNvSpPr txBox="1"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preserve="1" userDrawn="1">
  <p:cSld name="1_Diapositive de titr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/>
          <p:nvPr/>
        </p:nvSpPr>
        <p:spPr>
          <a:xfrm>
            <a:off x="0" y="0"/>
            <a:ext cx="12192000" cy="942113"/>
          </a:xfrm>
          <a:prstGeom prst="rect">
            <a:avLst/>
          </a:pr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pPr algn="ctr"/>
            <a:endParaRPr lang="fr-FR" dirty="0"/>
          </a:p>
        </p:txBody>
      </p:sp>
      <p:sp>
        <p:nvSpPr>
          <p:cNvPr id="17" name="Google Shape;17;p17"/>
          <p:cNvSpPr txBox="1">
            <a:spLocks noGrp="1"/>
          </p:cNvSpPr>
          <p:nvPr>
            <p:ph type="ctrTitle"/>
          </p:nvPr>
        </p:nvSpPr>
        <p:spPr>
          <a:xfrm>
            <a:off x="810000" y="1943475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7452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 preserve="1">
  <p:cSld name="1_Titre et contenu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/>
          <p:nvPr/>
        </p:nvSpPr>
        <p:spPr>
          <a:xfrm rot="5400000" flipV="1">
            <a:off x="-977900" y="977900"/>
            <a:ext cx="6858000" cy="4902200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310467" y="675330"/>
            <a:ext cx="3635000" cy="457400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5647266" y="451513"/>
            <a:ext cx="5726019" cy="546437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 dirty="0"/>
          </a:p>
        </p:txBody>
      </p:sp>
      <p:sp>
        <p:nvSpPr>
          <p:cNvPr id="26" name="Google Shape;26;p1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2348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/>
          <p:nvPr/>
        </p:nvSpPr>
        <p:spPr>
          <a:xfrm>
            <a:off x="0" y="1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" name="Google Shape;31;p19"/>
          <p:cNvSpPr txBox="1"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sz="48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2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2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2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3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body" idx="4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uniquement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p2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/>
          <p:nvPr/>
        </p:nvSpPr>
        <p:spPr>
          <a:xfrm>
            <a:off x="1073151" y="446087"/>
            <a:ext cx="3547533" cy="1814651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body" idx="1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body" idx="2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>
            <a:spLocks noGrp="1"/>
          </p:cNvSpPr>
          <p:nvPr>
            <p:ph type="pic" idx="2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5" name="Google Shape;75;p25"/>
          <p:cNvSpPr txBox="1">
            <a:spLocks noGrp="1"/>
          </p:cNvSpPr>
          <p:nvPr>
            <p:ph type="body" idx="1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dt" idx="10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ftr" idx="11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sldNum" idx="12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panoramique avec légende">
  <p:cSld name="Image panoramique avec légend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6"/>
          <p:cNvSpPr txBox="1"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w="9525" cap="rnd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82" name="Google Shape;82;p26"/>
          <p:cNvSpPr txBox="1">
            <a:spLocks noGrp="1"/>
          </p:cNvSpPr>
          <p:nvPr>
            <p:ph type="body" idx="1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6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tion avec légende">
  <p:cSld name="Citation avec légend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7"/>
          <p:cNvSpPr/>
          <p:nvPr/>
        </p:nvSpPr>
        <p:spPr>
          <a:xfrm>
            <a:off x="631697" y="1081456"/>
            <a:ext cx="6332416" cy="3239188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27"/>
          <p:cNvSpPr txBox="1"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sz="42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27"/>
          <p:cNvSpPr txBox="1">
            <a:spLocks noGrp="1"/>
          </p:cNvSpPr>
          <p:nvPr>
            <p:ph type="body" idx="2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91" name="Google Shape;91;p27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7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7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te de nom">
  <p:cSld name="Carte de nom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8"/>
          <p:cNvSpPr/>
          <p:nvPr/>
        </p:nvSpPr>
        <p:spPr>
          <a:xfrm>
            <a:off x="1140884" y="2286585"/>
            <a:ext cx="4895115" cy="2503972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8"/>
          <p:cNvSpPr txBox="1"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8"/>
          <p:cNvSpPr txBox="1">
            <a:spLocks noGrp="1"/>
          </p:cNvSpPr>
          <p:nvPr>
            <p:ph type="body" idx="1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98" name="Google Shape;98;p2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9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29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9"/>
          <p:cNvSpPr txBox="1">
            <a:spLocks noGrp="1"/>
          </p:cNvSpPr>
          <p:nvPr>
            <p:ph type="body" idx="1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105" name="Google Shape;105;p2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0"/>
          <p:cNvSpPr/>
          <p:nvPr/>
        </p:nvSpPr>
        <p:spPr>
          <a:xfrm>
            <a:off x="7669651" y="446089"/>
            <a:ext cx="4522349" cy="5414962"/>
          </a:xfrm>
          <a:custGeom>
            <a:avLst/>
            <a:gdLst/>
            <a:ahLst/>
            <a:cxnLst/>
            <a:rect l="l" t="t" r="r" b="b"/>
            <a:pathLst>
              <a:path w="2879" h="4320" extrusionOk="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30"/>
          <p:cNvSpPr txBox="1">
            <a:spLocks noGrp="1"/>
          </p:cNvSpPr>
          <p:nvPr>
            <p:ph type="title"/>
          </p:nvPr>
        </p:nvSpPr>
        <p:spPr>
          <a:xfrm rot="5400000">
            <a:off x="6863536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30"/>
          <p:cNvSpPr txBox="1">
            <a:spLocks noGrp="1"/>
          </p:cNvSpPr>
          <p:nvPr>
            <p:ph type="body" idx="1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112" name="Google Shape;112;p30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0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sz="4000" b="1" i="0" u="none" strike="noStrike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63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p1"/>
          <p:cNvSpPr/>
          <p:nvPr/>
        </p:nvSpPr>
        <p:spPr>
          <a:xfrm rot="-5400000">
            <a:off x="-650724" y="650724"/>
            <a:ext cx="6858000" cy="5556552"/>
          </a:xfrm>
          <a:custGeom>
            <a:avLst/>
            <a:gdLst/>
            <a:ahLst/>
            <a:cxnLst/>
            <a:rect l="l" t="t" r="r" b="b"/>
            <a:pathLst>
              <a:path w="6858000" h="5556552" extrusionOk="0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"/>
          <p:cNvSpPr txBox="1">
            <a:spLocks noGrp="1"/>
          </p:cNvSpPr>
          <p:nvPr>
            <p:ph type="subTitle" idx="1"/>
          </p:nvPr>
        </p:nvSpPr>
        <p:spPr>
          <a:xfrm>
            <a:off x="643466" y="2281574"/>
            <a:ext cx="3994015" cy="229485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-FR" sz="2800" dirty="0"/>
              <a:t>Florian Mounier</a:t>
            </a:r>
            <a:endParaRPr sz="2800" dirty="0"/>
          </a:p>
          <a:p>
            <a:pPr marL="0" lvl="0" indent="0" algn="ctr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800"/>
              <a:buNone/>
            </a:pPr>
            <a:r>
              <a:rPr lang="fr-FR" sz="2800" dirty="0"/>
              <a:t>FAO</a:t>
            </a:r>
            <a:endParaRPr dirty="0"/>
          </a:p>
        </p:txBody>
      </p:sp>
      <p:sp>
        <p:nvSpPr>
          <p:cNvPr id="123" name="Google Shape;123;p1"/>
          <p:cNvSpPr txBox="1">
            <a:spLocks noGrp="1"/>
          </p:cNvSpPr>
          <p:nvPr>
            <p:ph type="ctrTitle"/>
          </p:nvPr>
        </p:nvSpPr>
        <p:spPr>
          <a:xfrm>
            <a:off x="5803899" y="122751"/>
            <a:ext cx="5452533" cy="330624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400"/>
              <a:buFont typeface="Century Gothic"/>
              <a:buNone/>
            </a:pPr>
            <a:r>
              <a:rPr lang="fr-FR" sz="4400" dirty="0"/>
              <a:t>Étude sur l’alimentation dans le monde</a:t>
            </a:r>
            <a:endParaRPr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2A5F04E-092A-8419-9134-B3B1F4FE4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0" y="3429000"/>
            <a:ext cx="5143500" cy="3429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C0E8-B674-AD89-3071-E64A6C2D2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E444A3C-DED8-5EC4-1A0D-BB607CC98D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FD20128-5E7A-06C0-36B3-B26A717BCE6B}"/>
              </a:ext>
            </a:extLst>
          </p:cNvPr>
          <p:cNvSpPr txBox="1"/>
          <p:nvPr/>
        </p:nvSpPr>
        <p:spPr>
          <a:xfrm>
            <a:off x="1407970" y="1188223"/>
            <a:ext cx="9376059" cy="4972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3600" dirty="0">
                <a:solidFill>
                  <a:schemeClr val="bg1"/>
                </a:solidFill>
                <a:latin typeface="Century Gothic" panose="020B0502020202020204" pitchFamily="34" charset="0"/>
              </a:rPr>
              <a:t>En 2017, la production mondiale était</a:t>
            </a:r>
          </a:p>
          <a:p>
            <a:pPr algn="ctr">
              <a:lnSpc>
                <a:spcPct val="150000"/>
              </a:lnSpc>
            </a:pPr>
            <a:r>
              <a:rPr lang="fr-FR" sz="3600" dirty="0">
                <a:solidFill>
                  <a:schemeClr val="bg1"/>
                </a:solidFill>
                <a:latin typeface="Century Gothic" panose="020B0502020202020204" pitchFamily="34" charset="0"/>
              </a:rPr>
              <a:t>suffisante pour nourrir la quasi-totalité de</a:t>
            </a:r>
          </a:p>
          <a:p>
            <a:pPr algn="ctr">
              <a:lnSpc>
                <a:spcPct val="150000"/>
              </a:lnSpc>
            </a:pPr>
            <a:r>
              <a:rPr lang="fr-FR" sz="3600" dirty="0">
                <a:solidFill>
                  <a:schemeClr val="bg1"/>
                </a:solidFill>
                <a:latin typeface="Century Gothic" panose="020B0502020202020204" pitchFamily="34" charset="0"/>
              </a:rPr>
              <a:t>la population, mais des inégalités, des</a:t>
            </a:r>
          </a:p>
          <a:p>
            <a:pPr algn="ctr">
              <a:lnSpc>
                <a:spcPct val="150000"/>
              </a:lnSpc>
            </a:pPr>
            <a:r>
              <a:rPr lang="fr-FR" sz="3600" dirty="0">
                <a:solidFill>
                  <a:schemeClr val="bg1"/>
                </a:solidFill>
                <a:latin typeface="Century Gothic" panose="020B0502020202020204" pitchFamily="34" charset="0"/>
              </a:rPr>
              <a:t>choix économiques et les conflits</a:t>
            </a:r>
          </a:p>
          <a:p>
            <a:pPr algn="ctr">
              <a:lnSpc>
                <a:spcPct val="150000"/>
              </a:lnSpc>
            </a:pPr>
            <a:r>
              <a:rPr lang="fr-FR" sz="3600" dirty="0">
                <a:solidFill>
                  <a:schemeClr val="bg1"/>
                </a:solidFill>
                <a:latin typeface="Century Gothic" panose="020B0502020202020204" pitchFamily="34" charset="0"/>
              </a:rPr>
              <a:t>empêchent des millions de personnes de</a:t>
            </a:r>
          </a:p>
          <a:p>
            <a:pPr algn="ctr">
              <a:lnSpc>
                <a:spcPct val="150000"/>
              </a:lnSpc>
            </a:pPr>
            <a:r>
              <a:rPr lang="fr-FR" sz="3600" dirty="0">
                <a:solidFill>
                  <a:schemeClr val="bg1"/>
                </a:solidFill>
                <a:latin typeface="Century Gothic" panose="020B0502020202020204" pitchFamily="34" charset="0"/>
              </a:rPr>
              <a:t>manger à leur faim. </a:t>
            </a:r>
          </a:p>
        </p:txBody>
      </p:sp>
    </p:spTree>
    <p:extLst>
      <p:ext uri="{BB962C8B-B14F-4D97-AF65-F5344CB8AC3E}">
        <p14:creationId xmlns:p14="http://schemas.microsoft.com/office/powerpoint/2010/main" val="1515613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EE3FF95-5BEF-2BBB-93C2-D77016B991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</a:t>
            </a:fld>
            <a:endParaRPr lang="fr-FR"/>
          </a:p>
        </p:txBody>
      </p:sp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2399464F-7A98-51F6-B240-AE94AAAF22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0842928"/>
              </p:ext>
            </p:extLst>
          </p:nvPr>
        </p:nvGraphicFramePr>
        <p:xfrm>
          <a:off x="5065919" y="719666"/>
          <a:ext cx="6361231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itre 1">
            <a:extLst>
              <a:ext uri="{FF2B5EF4-FFF2-40B4-BE49-F238E27FC236}">
                <a16:creationId xmlns:a16="http://schemas.microsoft.com/office/drawing/2014/main" id="{45C02A3E-E6E7-7842-2BC9-81EC26D82D7E}"/>
              </a:ext>
            </a:extLst>
          </p:cNvPr>
          <p:cNvSpPr txBox="1">
            <a:spLocks/>
          </p:cNvSpPr>
          <p:nvPr/>
        </p:nvSpPr>
        <p:spPr>
          <a:xfrm>
            <a:off x="310467" y="675329"/>
            <a:ext cx="3635000" cy="362124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Century Gothic"/>
              <a:buNone/>
              <a:defRPr sz="4000" b="1" i="0" u="none" strike="noStrike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3600" dirty="0"/>
              <a:t>Révéler le plein</a:t>
            </a:r>
          </a:p>
          <a:p>
            <a:r>
              <a:rPr lang="fr-FR" sz="3600" dirty="0"/>
              <a:t>potentiel des</a:t>
            </a:r>
          </a:p>
          <a:p>
            <a:r>
              <a:rPr lang="fr-FR" sz="3600" dirty="0"/>
              <a:t>données</a:t>
            </a:r>
          </a:p>
          <a:p>
            <a:r>
              <a:rPr lang="fr-FR" sz="3600" dirty="0"/>
              <a:t>récoltées</a:t>
            </a:r>
          </a:p>
        </p:txBody>
      </p:sp>
    </p:spTree>
    <p:extLst>
      <p:ext uri="{BB962C8B-B14F-4D97-AF65-F5344CB8AC3E}">
        <p14:creationId xmlns:p14="http://schemas.microsoft.com/office/powerpoint/2010/main" val="2761035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B0745EF-6EA8-727E-B706-81E0C7EE35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4</a:t>
            </a:fld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ED3CF7DF-CD5E-6FE9-B2BD-D441F3B8CC3D}"/>
              </a:ext>
            </a:extLst>
          </p:cNvPr>
          <p:cNvSpPr txBox="1">
            <a:spLocks/>
          </p:cNvSpPr>
          <p:nvPr/>
        </p:nvSpPr>
        <p:spPr>
          <a:xfrm>
            <a:off x="310467" y="675330"/>
            <a:ext cx="3635000" cy="457400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Century Gothic"/>
              <a:buNone/>
              <a:defRPr sz="4000" b="1" i="0" u="none" strike="noStrike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3600" dirty="0"/>
              <a:t>La sous-</a:t>
            </a:r>
          </a:p>
          <a:p>
            <a:r>
              <a:rPr lang="fr-FR" sz="3600" dirty="0"/>
              <a:t>nutrition touche</a:t>
            </a:r>
          </a:p>
          <a:p>
            <a:r>
              <a:rPr lang="fr-FR" sz="3600" dirty="0"/>
              <a:t>1 personne sur</a:t>
            </a:r>
          </a:p>
          <a:p>
            <a:r>
              <a:rPr lang="fr-FR" sz="3600" dirty="0"/>
              <a:t>14 dans le</a:t>
            </a:r>
          </a:p>
          <a:p>
            <a:r>
              <a:rPr lang="fr-FR" sz="3600" dirty="0"/>
              <a:t>monde</a:t>
            </a:r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AA034394-6F28-342E-0426-AD7C62FD7D2B}"/>
              </a:ext>
            </a:extLst>
          </p:cNvPr>
          <p:cNvGrpSpPr/>
          <p:nvPr/>
        </p:nvGrpSpPr>
        <p:grpSpPr>
          <a:xfrm>
            <a:off x="5596982" y="45722"/>
            <a:ext cx="5154437" cy="6768819"/>
            <a:chOff x="5596982" y="45722"/>
            <a:chExt cx="5154437" cy="6768819"/>
          </a:xfrm>
        </p:grpSpPr>
        <p:grpSp>
          <p:nvGrpSpPr>
            <p:cNvPr id="16" name="Groupe 15">
              <a:extLst>
                <a:ext uri="{FF2B5EF4-FFF2-40B4-BE49-F238E27FC236}">
                  <a16:creationId xmlns:a16="http://schemas.microsoft.com/office/drawing/2014/main" id="{91CB2580-D471-C0F8-BC45-FCE7DB57B48B}"/>
                </a:ext>
              </a:extLst>
            </p:cNvPr>
            <p:cNvGrpSpPr/>
            <p:nvPr/>
          </p:nvGrpSpPr>
          <p:grpSpPr>
            <a:xfrm>
              <a:off x="5596982" y="45722"/>
              <a:ext cx="5154437" cy="6768819"/>
              <a:chOff x="5596982" y="45722"/>
              <a:chExt cx="5154437" cy="6768819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9382519-9A03-F995-DDC3-6B6E666161B7}"/>
                  </a:ext>
                </a:extLst>
              </p:cNvPr>
              <p:cNvSpPr/>
              <p:nvPr/>
            </p:nvSpPr>
            <p:spPr>
              <a:xfrm>
                <a:off x="5596982" y="6406627"/>
                <a:ext cx="5154437" cy="405651"/>
              </a:xfrm>
              <a:prstGeom prst="rect">
                <a:avLst/>
              </a:prstGeom>
              <a:solidFill>
                <a:srgbClr val="F7F5E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grpSp>
            <p:nvGrpSpPr>
              <p:cNvPr id="13" name="Groupe 12">
                <a:extLst>
                  <a:ext uri="{FF2B5EF4-FFF2-40B4-BE49-F238E27FC236}">
                    <a16:creationId xmlns:a16="http://schemas.microsoft.com/office/drawing/2014/main" id="{43E810EB-0B70-906A-84C9-881FFFE21ED7}"/>
                  </a:ext>
                </a:extLst>
              </p:cNvPr>
              <p:cNvGrpSpPr/>
              <p:nvPr/>
            </p:nvGrpSpPr>
            <p:grpSpPr>
              <a:xfrm>
                <a:off x="5596982" y="45722"/>
                <a:ext cx="5154437" cy="6574055"/>
                <a:chOff x="5606607" y="0"/>
                <a:chExt cx="5279855" cy="6872983"/>
              </a:xfrm>
            </p:grpSpPr>
            <p:pic>
              <p:nvPicPr>
                <p:cNvPr id="5" name="Image 4" descr="Une image contenant texte, Police, capture d’écran, Impression&#10;&#10;Le contenu généré par l’IA peut être incorrect.">
                  <a:extLst>
                    <a:ext uri="{FF2B5EF4-FFF2-40B4-BE49-F238E27FC236}">
                      <a16:creationId xmlns:a16="http://schemas.microsoft.com/office/drawing/2014/main" id="{824D21AE-786C-DA69-4CDA-126FF882AB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b="13217"/>
                <a:stretch>
                  <a:fillRect/>
                </a:stretch>
              </p:blipFill>
              <p:spPr>
                <a:xfrm>
                  <a:off x="5606607" y="0"/>
                  <a:ext cx="5279855" cy="6872983"/>
                </a:xfrm>
                <a:prstGeom prst="rect">
                  <a:avLst/>
                </a:prstGeom>
              </p:spPr>
            </p:pic>
            <p:sp>
              <p:nvSpPr>
                <p:cNvPr id="10" name="Arc plein 9">
                  <a:extLst>
                    <a:ext uri="{FF2B5EF4-FFF2-40B4-BE49-F238E27FC236}">
                      <a16:creationId xmlns:a16="http://schemas.microsoft.com/office/drawing/2014/main" id="{EC97A361-889E-181C-DE89-9EB5597ABCFD}"/>
                    </a:ext>
                  </a:extLst>
                </p:cNvPr>
                <p:cNvSpPr/>
                <p:nvPr/>
              </p:nvSpPr>
              <p:spPr>
                <a:xfrm rot="16200000">
                  <a:off x="8949960" y="3995376"/>
                  <a:ext cx="1167557" cy="1158261"/>
                </a:xfrm>
                <a:prstGeom prst="blockArc">
                  <a:avLst>
                    <a:gd name="adj1" fmla="val 21575854"/>
                    <a:gd name="adj2" fmla="val 20537512"/>
                    <a:gd name="adj3" fmla="val 15188"/>
                  </a:avLst>
                </a:prstGeom>
                <a:solidFill>
                  <a:srgbClr val="9DB2C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>
                    <a:solidFill>
                      <a:schemeClr val="tx1"/>
                    </a:solidFill>
                  </a:endParaRPr>
                </a:p>
              </p:txBody>
            </p:sp>
          </p:grpSp>
          <p:pic>
            <p:nvPicPr>
              <p:cNvPr id="14" name="Image 13" descr="Une image contenant texte, Police, capture d’écran, Impression&#10;&#10;Le contenu généré par l’IA peut être incorrect.">
                <a:extLst>
                  <a:ext uri="{FF2B5EF4-FFF2-40B4-BE49-F238E27FC236}">
                    <a16:creationId xmlns:a16="http://schemas.microsoft.com/office/drawing/2014/main" id="{C59AAA51-0981-D12D-B71D-CA7E21E6D6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26830" t="74208" r="46280" b="17866"/>
              <a:stretch>
                <a:fillRect/>
              </a:stretch>
            </p:blipFill>
            <p:spPr>
              <a:xfrm>
                <a:off x="5900286" y="6214126"/>
                <a:ext cx="1386039" cy="600415"/>
              </a:xfrm>
              <a:prstGeom prst="rect">
                <a:avLst/>
              </a:prstGeom>
            </p:spPr>
          </p:pic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5E3A9E2-A4F7-17A1-BC53-1F2B69006C06}"/>
                </a:ext>
              </a:extLst>
            </p:cNvPr>
            <p:cNvSpPr/>
            <p:nvPr/>
          </p:nvSpPr>
          <p:spPr>
            <a:xfrm>
              <a:off x="5900286" y="4714875"/>
              <a:ext cx="2704312" cy="914400"/>
            </a:xfrm>
            <a:prstGeom prst="rect">
              <a:avLst/>
            </a:prstGeom>
            <a:solidFill>
              <a:srgbClr val="F8F4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170331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>
            <a:extLst>
              <a:ext uri="{FF2B5EF4-FFF2-40B4-BE49-F238E27FC236}">
                <a16:creationId xmlns:a16="http://schemas.microsoft.com/office/drawing/2014/main" id="{F1199B22-65A7-2E73-F34F-BBC69FC76FA2}"/>
              </a:ext>
            </a:extLst>
          </p:cNvPr>
          <p:cNvSpPr txBox="1">
            <a:spLocks/>
          </p:cNvSpPr>
          <p:nvPr/>
        </p:nvSpPr>
        <p:spPr>
          <a:xfrm>
            <a:off x="310467" y="675329"/>
            <a:ext cx="3635000" cy="457400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Century Gothic"/>
              <a:buNone/>
              <a:defRPr sz="4000" b="1" i="0" u="none" strike="noStrike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3600" dirty="0"/>
              <a:t>2017 : une</a:t>
            </a:r>
          </a:p>
          <a:p>
            <a:r>
              <a:rPr lang="fr-FR" sz="3600" dirty="0"/>
              <a:t>production</a:t>
            </a:r>
          </a:p>
          <a:p>
            <a:r>
              <a:rPr lang="fr-FR" sz="3600" dirty="0"/>
              <a:t>alimentaire</a:t>
            </a:r>
          </a:p>
          <a:p>
            <a:r>
              <a:rPr lang="fr-FR" sz="3600" dirty="0"/>
              <a:t>capable de</a:t>
            </a:r>
          </a:p>
          <a:p>
            <a:r>
              <a:rPr lang="fr-FR" sz="3600" dirty="0"/>
              <a:t>nourrir 94 % de</a:t>
            </a:r>
          </a:p>
          <a:p>
            <a:r>
              <a:rPr lang="fr-FR" sz="3600" dirty="0"/>
              <a:t>la population</a:t>
            </a:r>
          </a:p>
          <a:p>
            <a:r>
              <a:rPr lang="fr-FR" sz="3600" dirty="0"/>
              <a:t>mondiale (en</a:t>
            </a:r>
          </a:p>
          <a:p>
            <a:r>
              <a:rPr lang="fr-FR" sz="3600" dirty="0"/>
              <a:t>théorie)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D2BA7A6-F321-3019-7A83-09954C5E96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5</a:t>
            </a:fld>
            <a:endParaRPr lang="fr-FR"/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439C861A-9B71-2617-F9EB-297FCC99689A}"/>
              </a:ext>
            </a:extLst>
          </p:cNvPr>
          <p:cNvGrpSpPr/>
          <p:nvPr/>
        </p:nvGrpSpPr>
        <p:grpSpPr>
          <a:xfrm>
            <a:off x="5826604" y="413766"/>
            <a:ext cx="4839862" cy="6030468"/>
            <a:chOff x="5826604" y="413766"/>
            <a:chExt cx="4839862" cy="6030468"/>
          </a:xfrm>
        </p:grpSpPr>
        <p:pic>
          <p:nvPicPr>
            <p:cNvPr id="10" name="Image 9" descr="Une image contenant texte, Police, affiche, conception&#10;&#10;Le contenu généré par l’IA peut être incorrect.">
              <a:extLst>
                <a:ext uri="{FF2B5EF4-FFF2-40B4-BE49-F238E27FC236}">
                  <a16:creationId xmlns:a16="http://schemas.microsoft.com/office/drawing/2014/main" id="{9AC6D0E1-E2B3-C8D0-D4B0-B37F1004C0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6934"/>
            <a:stretch>
              <a:fillRect/>
            </a:stretch>
          </p:blipFill>
          <p:spPr>
            <a:xfrm>
              <a:off x="5826604" y="413766"/>
              <a:ext cx="4839862" cy="6030468"/>
            </a:xfrm>
            <a:prstGeom prst="rect">
              <a:avLst/>
            </a:prstGeom>
          </p:spPr>
        </p:pic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9020C0E3-E403-CC46-39A4-E60D1F4FC1EC}"/>
                </a:ext>
              </a:extLst>
            </p:cNvPr>
            <p:cNvSpPr txBox="1"/>
            <p:nvPr/>
          </p:nvSpPr>
          <p:spPr>
            <a:xfrm>
              <a:off x="8246535" y="1453896"/>
              <a:ext cx="1920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rgbClr val="35576A"/>
                  </a:solidFill>
                </a:rPr>
                <a:t>*</a:t>
              </a: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C4E9D089-BE39-9118-6E1C-3C7A0415059F}"/>
                </a:ext>
              </a:extLst>
            </p:cNvPr>
            <p:cNvSpPr txBox="1"/>
            <p:nvPr/>
          </p:nvSpPr>
          <p:spPr>
            <a:xfrm>
              <a:off x="5967984" y="5882402"/>
              <a:ext cx="1920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rgbClr val="35576A"/>
                  </a:solidFill>
                </a:rPr>
                <a:t>*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0209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C1D938D-66A4-6312-B8BE-63BEE29520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6</a:t>
            </a:fld>
            <a:endParaRPr lang="fr-FR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213418D6-CE00-3F8E-409B-2BE47B4282E8}"/>
              </a:ext>
            </a:extLst>
          </p:cNvPr>
          <p:cNvSpPr txBox="1">
            <a:spLocks/>
          </p:cNvSpPr>
          <p:nvPr/>
        </p:nvSpPr>
        <p:spPr>
          <a:xfrm>
            <a:off x="310467" y="675330"/>
            <a:ext cx="3635000" cy="411700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Century Gothic"/>
              <a:buNone/>
              <a:defRPr sz="4000" b="1" i="0" u="none" strike="noStrike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3600" dirty="0"/>
              <a:t>En 2017, la</a:t>
            </a:r>
          </a:p>
          <a:p>
            <a:r>
              <a:rPr lang="fr-FR" sz="3600" dirty="0"/>
              <a:t>production</a:t>
            </a:r>
          </a:p>
          <a:p>
            <a:r>
              <a:rPr lang="fr-FR" sz="3600" dirty="0"/>
              <a:t>végétale serait</a:t>
            </a:r>
          </a:p>
          <a:p>
            <a:r>
              <a:rPr lang="fr-FR" sz="3600" dirty="0"/>
              <a:t>suffisante pour</a:t>
            </a:r>
          </a:p>
          <a:p>
            <a:r>
              <a:rPr lang="fr-FR" sz="3600" dirty="0"/>
              <a:t>nourrir les trois</a:t>
            </a:r>
          </a:p>
          <a:p>
            <a:r>
              <a:rPr lang="fr-FR" sz="3600" dirty="0"/>
              <a:t>quarts de</a:t>
            </a:r>
          </a:p>
          <a:p>
            <a:r>
              <a:rPr lang="fr-FR" sz="3600" dirty="0"/>
              <a:t>l’humanité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637E7B5C-3940-4BA7-8D1C-C2175AE6C295}"/>
              </a:ext>
            </a:extLst>
          </p:cNvPr>
          <p:cNvGrpSpPr/>
          <p:nvPr/>
        </p:nvGrpSpPr>
        <p:grpSpPr>
          <a:xfrm>
            <a:off x="5504487" y="1017317"/>
            <a:ext cx="5760676" cy="4823365"/>
            <a:chOff x="5504487" y="1017317"/>
            <a:chExt cx="5760676" cy="4823365"/>
          </a:xfrm>
        </p:grpSpPr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2586FF1C-E26E-499B-7321-5178B34E0998}"/>
                </a:ext>
              </a:extLst>
            </p:cNvPr>
            <p:cNvGrpSpPr/>
            <p:nvPr/>
          </p:nvGrpSpPr>
          <p:grpSpPr>
            <a:xfrm>
              <a:off x="5504487" y="1017317"/>
              <a:ext cx="5760676" cy="4823365"/>
              <a:chOff x="5504487" y="1017317"/>
              <a:chExt cx="5760676" cy="4823365"/>
            </a:xfrm>
          </p:grpSpPr>
          <p:grpSp>
            <p:nvGrpSpPr>
              <p:cNvPr id="10" name="Groupe 9">
                <a:extLst>
                  <a:ext uri="{FF2B5EF4-FFF2-40B4-BE49-F238E27FC236}">
                    <a16:creationId xmlns:a16="http://schemas.microsoft.com/office/drawing/2014/main" id="{97FE8CC6-162C-1066-24B6-A9B083CB1869}"/>
                  </a:ext>
                </a:extLst>
              </p:cNvPr>
              <p:cNvGrpSpPr/>
              <p:nvPr/>
            </p:nvGrpSpPr>
            <p:grpSpPr>
              <a:xfrm>
                <a:off x="5504487" y="1017317"/>
                <a:ext cx="5612111" cy="4823365"/>
                <a:chOff x="5440479" y="0"/>
                <a:chExt cx="5612111" cy="4823365"/>
              </a:xfrm>
            </p:grpSpPr>
            <p:pic>
              <p:nvPicPr>
                <p:cNvPr id="6" name="Image 5" descr="Une image contenant texte, Police, capture d’écran, logo&#10;&#10;Le contenu généré par l’IA peut être incorrect.">
                  <a:extLst>
                    <a:ext uri="{FF2B5EF4-FFF2-40B4-BE49-F238E27FC236}">
                      <a16:creationId xmlns:a16="http://schemas.microsoft.com/office/drawing/2014/main" id="{0950CA8B-9387-A2C5-8D66-60F720560E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t="18534" b="24170"/>
                <a:stretch>
                  <a:fillRect/>
                </a:stretch>
              </p:blipFill>
              <p:spPr>
                <a:xfrm>
                  <a:off x="5440479" y="0"/>
                  <a:ext cx="5612111" cy="4823365"/>
                </a:xfrm>
                <a:prstGeom prst="rect">
                  <a:avLst/>
                </a:prstGeom>
              </p:spPr>
            </p:pic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5CB41847-0E64-8596-BC38-10B73EE07A1C}"/>
                    </a:ext>
                  </a:extLst>
                </p:cNvPr>
                <p:cNvSpPr/>
                <p:nvPr/>
              </p:nvSpPr>
              <p:spPr>
                <a:xfrm>
                  <a:off x="5612809" y="4342191"/>
                  <a:ext cx="3421464" cy="481174"/>
                </a:xfrm>
                <a:prstGeom prst="rect">
                  <a:avLst/>
                </a:prstGeom>
                <a:solidFill>
                  <a:srgbClr val="F9F6EE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714C77D0-09D5-24B1-8FE8-78D1B692C5D0}"/>
                  </a:ext>
                </a:extLst>
              </p:cNvPr>
              <p:cNvSpPr txBox="1"/>
              <p:nvPr/>
            </p:nvSpPr>
            <p:spPr>
              <a:xfrm>
                <a:off x="9425212" y="1918010"/>
                <a:ext cx="18399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000" b="1" dirty="0">
                    <a:solidFill>
                      <a:srgbClr val="2E4A5A"/>
                    </a:solidFill>
                  </a:rPr>
                  <a:t>milliards</a:t>
                </a:r>
              </a:p>
            </p:txBody>
          </p:sp>
        </p:grpSp>
        <p:sp>
          <p:nvSpPr>
            <p:cNvPr id="13" name="Arc plein 12">
              <a:extLst>
                <a:ext uri="{FF2B5EF4-FFF2-40B4-BE49-F238E27FC236}">
                  <a16:creationId xmlns:a16="http://schemas.microsoft.com/office/drawing/2014/main" id="{33F684DC-B355-D127-336E-06C26024D02E}"/>
                </a:ext>
              </a:extLst>
            </p:cNvPr>
            <p:cNvSpPr/>
            <p:nvPr/>
          </p:nvSpPr>
          <p:spPr>
            <a:xfrm rot="16200000">
              <a:off x="9022404" y="4051854"/>
              <a:ext cx="1652395" cy="1659459"/>
            </a:xfrm>
            <a:prstGeom prst="blockArc">
              <a:avLst>
                <a:gd name="adj1" fmla="val 21575854"/>
                <a:gd name="adj2" fmla="val 17007735"/>
                <a:gd name="adj3" fmla="val 15148"/>
              </a:avLst>
            </a:prstGeom>
            <a:solidFill>
              <a:srgbClr val="2E49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6482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6926B9F-4D7B-2CD2-A8B1-81C90F2911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7</a:t>
            </a:fld>
            <a:endParaRPr lang="fr-FR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DA8BA62-A3C2-5EC5-2BBE-8D0B6F36F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8123" y="1045678"/>
            <a:ext cx="6178126" cy="4766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9F5CE8BF-1E8D-174F-970F-EB65D6CD0993}"/>
              </a:ext>
            </a:extLst>
          </p:cNvPr>
          <p:cNvSpPr txBox="1">
            <a:spLocks/>
          </p:cNvSpPr>
          <p:nvPr/>
        </p:nvSpPr>
        <p:spPr>
          <a:xfrm>
            <a:off x="310467" y="675331"/>
            <a:ext cx="3635000" cy="45466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Century Gothic"/>
              <a:buNone/>
              <a:defRPr sz="4000" b="1" i="0" u="none" strike="noStrike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3600" dirty="0"/>
              <a:t>Sur les 9,8</a:t>
            </a:r>
          </a:p>
          <a:p>
            <a:r>
              <a:rPr lang="fr-FR" sz="3600" dirty="0"/>
              <a:t>milliards de</a:t>
            </a:r>
          </a:p>
          <a:p>
            <a:r>
              <a:rPr lang="fr-FR" sz="3600" dirty="0"/>
              <a:t>tonnes</a:t>
            </a:r>
          </a:p>
          <a:p>
            <a:r>
              <a:rPr lang="fr-FR" sz="3600" dirty="0"/>
              <a:t>disponibles</a:t>
            </a:r>
          </a:p>
          <a:p>
            <a:r>
              <a:rPr lang="fr-FR" sz="3600" dirty="0"/>
              <a:t>seule la moitié</a:t>
            </a:r>
          </a:p>
          <a:p>
            <a:r>
              <a:rPr lang="fr-FR" sz="3600" dirty="0"/>
              <a:t>sert à nourrir la</a:t>
            </a:r>
          </a:p>
          <a:p>
            <a:r>
              <a:rPr lang="fr-FR" sz="3600" dirty="0"/>
              <a:t>population</a:t>
            </a:r>
          </a:p>
          <a:p>
            <a:r>
              <a:rPr lang="fr-FR" sz="3600" dirty="0"/>
              <a:t>mondiale</a:t>
            </a:r>
          </a:p>
        </p:txBody>
      </p:sp>
    </p:spTree>
    <p:extLst>
      <p:ext uri="{BB962C8B-B14F-4D97-AF65-F5344CB8AC3E}">
        <p14:creationId xmlns:p14="http://schemas.microsoft.com/office/powerpoint/2010/main" val="3547396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58F26A5-0CDA-22EE-4556-3D479C0CF9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8</a:t>
            </a:fld>
            <a:endParaRPr lang="fr-FR"/>
          </a:p>
        </p:txBody>
      </p:sp>
      <p:sp>
        <p:nvSpPr>
          <p:cNvPr id="5" name="Google Shape;174;p8">
            <a:extLst>
              <a:ext uri="{FF2B5EF4-FFF2-40B4-BE49-F238E27FC236}">
                <a16:creationId xmlns:a16="http://schemas.microsoft.com/office/drawing/2014/main" id="{EDAB4740-F5FA-E6C1-43DC-41B043FC9D01}"/>
              </a:ext>
            </a:extLst>
          </p:cNvPr>
          <p:cNvSpPr txBox="1">
            <a:spLocks/>
          </p:cNvSpPr>
          <p:nvPr/>
        </p:nvSpPr>
        <p:spPr>
          <a:xfrm>
            <a:off x="310467" y="675330"/>
            <a:ext cx="3635000" cy="507547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Century Gothic"/>
              <a:buNone/>
              <a:defRPr sz="4000" b="1" i="0" u="none" strike="noStrike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200"/>
            </a:pPr>
            <a:r>
              <a:rPr lang="fr-FR" sz="3200" dirty="0"/>
              <a:t>Les céréales</a:t>
            </a:r>
          </a:p>
          <a:p>
            <a:pPr>
              <a:buSzPts val="3200"/>
            </a:pPr>
            <a:r>
              <a:rPr lang="fr-FR" sz="3200" dirty="0"/>
              <a:t>pourraient nourrir</a:t>
            </a:r>
          </a:p>
          <a:p>
            <a:pPr>
              <a:buSzPts val="3200"/>
            </a:pPr>
            <a:r>
              <a:rPr lang="fr-FR" sz="3200" dirty="0"/>
              <a:t>40% de la</a:t>
            </a:r>
          </a:p>
          <a:p>
            <a:pPr>
              <a:buSzPts val="3200"/>
            </a:pPr>
            <a:r>
              <a:rPr lang="fr-FR" sz="3200" dirty="0"/>
              <a:t>population</a:t>
            </a:r>
          </a:p>
          <a:p>
            <a:pPr>
              <a:buSzPts val="3200"/>
            </a:pPr>
            <a:r>
              <a:rPr lang="fr-FR" sz="3200" dirty="0"/>
              <a:t>mondiale mais</a:t>
            </a:r>
          </a:p>
          <a:p>
            <a:pPr>
              <a:buSzPts val="3200"/>
            </a:pPr>
            <a:r>
              <a:rPr lang="fr-FR" sz="3200" dirty="0"/>
              <a:t>représentent</a:t>
            </a:r>
          </a:p>
          <a:p>
            <a:pPr>
              <a:buSzPts val="3200"/>
            </a:pPr>
            <a:r>
              <a:rPr lang="fr-FR" sz="3200" dirty="0"/>
              <a:t>moins de 20% de</a:t>
            </a:r>
          </a:p>
          <a:p>
            <a:pPr>
              <a:buSzPts val="3200"/>
            </a:pPr>
            <a:r>
              <a:rPr lang="fr-FR" sz="3200" dirty="0"/>
              <a:t>l’apport</a:t>
            </a:r>
          </a:p>
          <a:p>
            <a:pPr>
              <a:buSzPts val="3200"/>
            </a:pPr>
            <a:r>
              <a:rPr lang="fr-FR" sz="3200" dirty="0"/>
              <a:t>calorique en</a:t>
            </a:r>
          </a:p>
          <a:p>
            <a:pPr>
              <a:buSzPts val="3200"/>
            </a:pPr>
            <a:r>
              <a:rPr lang="fr-FR" sz="3200" dirty="0"/>
              <a:t>nourriture</a:t>
            </a:r>
          </a:p>
          <a:p>
            <a:pPr>
              <a:buSzPts val="3200"/>
            </a:pPr>
            <a:r>
              <a:rPr lang="fr-FR" sz="3200" dirty="0"/>
              <a:t>humaine</a:t>
            </a:r>
            <a:endParaRPr lang="fr-FR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63E4C3D6-1612-0497-6163-5DCF344571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2731" y="696189"/>
            <a:ext cx="6247607" cy="5464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508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1B2BA19-3038-8DBE-7F08-252D4B13A3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9</a:t>
            </a:fld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F7C41393-B53C-10E8-1B96-0CF73FA089CF}"/>
              </a:ext>
            </a:extLst>
          </p:cNvPr>
          <p:cNvSpPr txBox="1">
            <a:spLocks/>
          </p:cNvSpPr>
          <p:nvPr/>
        </p:nvSpPr>
        <p:spPr>
          <a:xfrm>
            <a:off x="310467" y="675329"/>
            <a:ext cx="3635000" cy="449158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Century Gothic"/>
              <a:buNone/>
              <a:defRPr sz="4000" b="1" i="0" u="none" strike="noStrike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3600" dirty="0"/>
              <a:t>La sous-</a:t>
            </a:r>
          </a:p>
          <a:p>
            <a:r>
              <a:rPr lang="fr-FR" sz="3600" dirty="0"/>
              <a:t>alimentation</a:t>
            </a:r>
          </a:p>
          <a:p>
            <a:r>
              <a:rPr lang="fr-FR" sz="3600" dirty="0"/>
              <a:t>touche entre</a:t>
            </a:r>
          </a:p>
          <a:p>
            <a:r>
              <a:rPr lang="fr-FR" sz="3600" dirty="0"/>
              <a:t>30 et 50% de la</a:t>
            </a:r>
          </a:p>
          <a:p>
            <a:r>
              <a:rPr lang="fr-FR" sz="3600" dirty="0"/>
              <a:t>population des</a:t>
            </a:r>
          </a:p>
          <a:p>
            <a:r>
              <a:rPr lang="fr-FR" sz="3600" dirty="0"/>
              <a:t>pays les plus</a:t>
            </a:r>
          </a:p>
          <a:p>
            <a:r>
              <a:rPr lang="fr-FR" sz="3600" dirty="0"/>
              <a:t>impactés en</a:t>
            </a:r>
          </a:p>
          <a:p>
            <a:r>
              <a:rPr lang="fr-FR" sz="3600" dirty="0"/>
              <a:t>2017</a:t>
            </a:r>
          </a:p>
        </p:txBody>
      </p:sp>
      <p:pic>
        <p:nvPicPr>
          <p:cNvPr id="10" name="Image 9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0992AEC2-FBF9-C556-5B06-3FD94BD86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875" y="818142"/>
            <a:ext cx="7002954" cy="5221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864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4B1376-2BBC-828D-7754-476B002A28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10</a:t>
            </a:fld>
            <a:endParaRPr lang="fr-FR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BE5D3AF0-0233-90FB-6E7E-ED1477BEE349}"/>
              </a:ext>
            </a:extLst>
          </p:cNvPr>
          <p:cNvSpPr txBox="1">
            <a:spLocks/>
          </p:cNvSpPr>
          <p:nvPr/>
        </p:nvSpPr>
        <p:spPr>
          <a:xfrm>
            <a:off x="310467" y="675331"/>
            <a:ext cx="3635000" cy="348904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Century Gothic"/>
              <a:buNone/>
              <a:defRPr sz="4000" b="1" i="0" u="none" strike="noStrike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3600" dirty="0"/>
              <a:t>La guerre : un</a:t>
            </a:r>
          </a:p>
          <a:p>
            <a:r>
              <a:rPr lang="fr-FR" sz="3600" dirty="0"/>
              <a:t>argument de</a:t>
            </a:r>
          </a:p>
          <a:p>
            <a:r>
              <a:rPr lang="fr-FR" sz="3600" dirty="0"/>
              <a:t>poids pour la</a:t>
            </a:r>
          </a:p>
          <a:p>
            <a:r>
              <a:rPr lang="fr-FR" sz="3600" dirty="0"/>
              <a:t>distribution de</a:t>
            </a:r>
          </a:p>
          <a:p>
            <a:r>
              <a:rPr lang="fr-FR" sz="3600" dirty="0"/>
              <a:t>l’aide</a:t>
            </a:r>
          </a:p>
          <a:p>
            <a:r>
              <a:rPr lang="fr-FR" sz="3600" dirty="0"/>
              <a:t>alimentaire</a:t>
            </a:r>
          </a:p>
        </p:txBody>
      </p:sp>
      <p:pic>
        <p:nvPicPr>
          <p:cNvPr id="15" name="Image 14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C6F4E265-A102-3BA3-BC4E-775905801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9328" y="950594"/>
            <a:ext cx="7125417" cy="495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350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28A3896-6283-7E86-6586-51865036A7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11</a:t>
            </a:fld>
            <a:endParaRPr lang="fr-FR"/>
          </a:p>
        </p:txBody>
      </p:sp>
      <p:sp>
        <p:nvSpPr>
          <p:cNvPr id="5" name="Google Shape;195;g2233f607d43_0_0">
            <a:extLst>
              <a:ext uri="{FF2B5EF4-FFF2-40B4-BE49-F238E27FC236}">
                <a16:creationId xmlns:a16="http://schemas.microsoft.com/office/drawing/2014/main" id="{47A29FE3-A8B2-EAA8-8A39-092A29E5949E}"/>
              </a:ext>
            </a:extLst>
          </p:cNvPr>
          <p:cNvSpPr txBox="1">
            <a:spLocks/>
          </p:cNvSpPr>
          <p:nvPr/>
        </p:nvSpPr>
        <p:spPr>
          <a:xfrm>
            <a:off x="310467" y="675329"/>
            <a:ext cx="3635000" cy="46017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Century Gothic"/>
              <a:buNone/>
              <a:defRPr sz="4000" b="1" i="0" u="none" strike="noStrike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200"/>
            </a:pPr>
            <a:r>
              <a:rPr lang="fr-FR" sz="3600" dirty="0"/>
              <a:t>La guerre civile</a:t>
            </a:r>
          </a:p>
          <a:p>
            <a:pPr>
              <a:buSzPts val="3200"/>
            </a:pPr>
            <a:r>
              <a:rPr lang="fr-FR" sz="3600" dirty="0"/>
              <a:t>yéménite</a:t>
            </a:r>
          </a:p>
          <a:p>
            <a:pPr>
              <a:buSzPts val="3200"/>
            </a:pPr>
            <a:r>
              <a:rPr lang="fr-FR" sz="3600" dirty="0"/>
              <a:t>semble</a:t>
            </a:r>
          </a:p>
          <a:p>
            <a:pPr>
              <a:buSzPts val="3200"/>
            </a:pPr>
            <a:r>
              <a:rPr lang="fr-FR" sz="3600" dirty="0"/>
              <a:t>redéfinir la</a:t>
            </a:r>
          </a:p>
          <a:p>
            <a:pPr>
              <a:buSzPts val="3200"/>
            </a:pPr>
            <a:r>
              <a:rPr lang="fr-FR" sz="3600" dirty="0"/>
              <a:t>priorisation</a:t>
            </a:r>
          </a:p>
          <a:p>
            <a:pPr>
              <a:buSzPts val="3200"/>
            </a:pPr>
            <a:r>
              <a:rPr lang="fr-FR" sz="3600" dirty="0"/>
              <a:t>d’attribution de</a:t>
            </a:r>
          </a:p>
          <a:p>
            <a:pPr>
              <a:buSzPts val="3200"/>
            </a:pPr>
            <a:r>
              <a:rPr lang="fr-FR" sz="3600" dirty="0"/>
              <a:t>l’aide</a:t>
            </a:r>
          </a:p>
          <a:p>
            <a:pPr>
              <a:buSzPts val="3200"/>
            </a:pPr>
            <a:r>
              <a:rPr lang="fr-FR" sz="3600" dirty="0"/>
              <a:t>alimentaire</a:t>
            </a:r>
            <a:endParaRPr lang="fr-FR" sz="4400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676A16FB-40FA-377A-D205-4E378A7031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5412" y="1731118"/>
            <a:ext cx="7642245" cy="4266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3439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FAA45EB-EC89-2F04-AE3F-E2D6C96525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12</a:t>
            </a:fld>
            <a:endParaRPr lang="fr-FR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3165609F-66DC-00A6-637E-21069122C9A4}"/>
              </a:ext>
            </a:extLst>
          </p:cNvPr>
          <p:cNvSpPr txBox="1">
            <a:spLocks/>
          </p:cNvSpPr>
          <p:nvPr/>
        </p:nvSpPr>
        <p:spPr>
          <a:xfrm>
            <a:off x="310467" y="675330"/>
            <a:ext cx="3635000" cy="433734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Century Gothic"/>
              <a:buNone/>
              <a:defRPr sz="4000" b="1" i="0" u="none" strike="noStrike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3600" dirty="0"/>
              <a:t>Les pays avec</a:t>
            </a:r>
          </a:p>
          <a:p>
            <a:r>
              <a:rPr lang="fr-FR" sz="3600" dirty="0"/>
              <a:t>la disponibilité</a:t>
            </a:r>
          </a:p>
          <a:p>
            <a:r>
              <a:rPr lang="fr-FR" sz="3600" dirty="0"/>
              <a:t>alimentaire la</a:t>
            </a:r>
          </a:p>
          <a:p>
            <a:r>
              <a:rPr lang="fr-FR" sz="3600" dirty="0"/>
              <a:t>plus élevé</a:t>
            </a:r>
          </a:p>
          <a:p>
            <a:r>
              <a:rPr lang="fr-FR" sz="3600" dirty="0"/>
              <a:t>peuvent nourrir</a:t>
            </a:r>
          </a:p>
          <a:p>
            <a:r>
              <a:rPr lang="fr-FR" sz="3600" dirty="0"/>
              <a:t>près de 120%</a:t>
            </a:r>
          </a:p>
          <a:p>
            <a:r>
              <a:rPr lang="fr-FR" sz="3600" dirty="0"/>
              <a:t>de leur</a:t>
            </a:r>
          </a:p>
          <a:p>
            <a:r>
              <a:rPr lang="fr-FR" sz="3600" dirty="0"/>
              <a:t>population…</a:t>
            </a:r>
          </a:p>
        </p:txBody>
      </p:sp>
      <p:pic>
        <p:nvPicPr>
          <p:cNvPr id="9" name="Image 8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16351C4A-FAB4-9B3B-11D5-516F657ED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775" y="1023994"/>
            <a:ext cx="7137077" cy="4810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518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41CE397-8131-F46F-DF48-12007CE23D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13</a:t>
            </a:fld>
            <a:endParaRPr lang="fr-FR"/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8A69DE22-72F3-216E-08BC-819277EE824E}"/>
              </a:ext>
            </a:extLst>
          </p:cNvPr>
          <p:cNvSpPr txBox="1">
            <a:spLocks/>
          </p:cNvSpPr>
          <p:nvPr/>
        </p:nvSpPr>
        <p:spPr>
          <a:xfrm>
            <a:off x="310467" y="675330"/>
            <a:ext cx="3635000" cy="421615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Century Gothic"/>
              <a:buNone/>
              <a:defRPr sz="4000" b="1" i="0" u="none" strike="noStrike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3600" dirty="0"/>
              <a:t>… tandis que</a:t>
            </a:r>
          </a:p>
          <a:p>
            <a:r>
              <a:rPr lang="fr-FR" sz="3600" dirty="0"/>
              <a:t>moins de 70%</a:t>
            </a:r>
          </a:p>
          <a:p>
            <a:r>
              <a:rPr lang="fr-FR" sz="3600" dirty="0"/>
              <a:t>de ceux en fin</a:t>
            </a:r>
          </a:p>
          <a:p>
            <a:r>
              <a:rPr lang="fr-FR" sz="3600" dirty="0"/>
              <a:t>de classement</a:t>
            </a:r>
          </a:p>
          <a:p>
            <a:r>
              <a:rPr lang="fr-FR" sz="3600" dirty="0"/>
              <a:t>peuvent être</a:t>
            </a:r>
          </a:p>
          <a:p>
            <a:r>
              <a:rPr lang="fr-FR" sz="3600" dirty="0"/>
              <a:t>alimentés par</a:t>
            </a:r>
          </a:p>
          <a:p>
            <a:r>
              <a:rPr lang="fr-FR" sz="3600" dirty="0"/>
              <a:t>leur propre</a:t>
            </a:r>
          </a:p>
          <a:p>
            <a:r>
              <a:rPr lang="fr-FR" sz="3600" dirty="0"/>
              <a:t>pays</a:t>
            </a:r>
          </a:p>
        </p:txBody>
      </p: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10B687B7-421E-8EB9-E130-B53BF28D1D89}"/>
              </a:ext>
            </a:extLst>
          </p:cNvPr>
          <p:cNvGrpSpPr/>
          <p:nvPr/>
        </p:nvGrpSpPr>
        <p:grpSpPr>
          <a:xfrm>
            <a:off x="5007520" y="949492"/>
            <a:ext cx="7117105" cy="4959016"/>
            <a:chOff x="5007520" y="949492"/>
            <a:chExt cx="7117105" cy="4959016"/>
          </a:xfrm>
        </p:grpSpPr>
        <p:pic>
          <p:nvPicPr>
            <p:cNvPr id="16" name="Image 15" descr="Une image contenant texte, capture d’écran, Police, nombre&#10;&#10;Le contenu généré par l’IA peut être incorrect.">
              <a:extLst>
                <a:ext uri="{FF2B5EF4-FFF2-40B4-BE49-F238E27FC236}">
                  <a16:creationId xmlns:a16="http://schemas.microsoft.com/office/drawing/2014/main" id="{AEA0F8F4-260E-10C7-BC23-93BC473438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07520" y="949492"/>
              <a:ext cx="7117105" cy="4959016"/>
            </a:xfrm>
            <a:prstGeom prst="rect">
              <a:avLst/>
            </a:prstGeom>
          </p:spPr>
        </p:pic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683996E4-7560-098F-4B90-A6EF9EA9FB91}"/>
                </a:ext>
              </a:extLst>
            </p:cNvPr>
            <p:cNvCxnSpPr>
              <a:cxnSpLocks/>
            </p:cNvCxnSpPr>
            <p:nvPr/>
          </p:nvCxnSpPr>
          <p:spPr>
            <a:xfrm>
              <a:off x="7060030" y="5806240"/>
              <a:ext cx="42842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36144BC9-73BC-5D95-3074-57924DA2660B}"/>
                </a:ext>
              </a:extLst>
            </p:cNvPr>
            <p:cNvCxnSpPr>
              <a:cxnSpLocks/>
            </p:cNvCxnSpPr>
            <p:nvPr/>
          </p:nvCxnSpPr>
          <p:spPr>
            <a:xfrm>
              <a:off x="7635942" y="5806240"/>
              <a:ext cx="42842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B97AD281-4D80-ABA5-1E97-4A17460BBA86}"/>
                </a:ext>
              </a:extLst>
            </p:cNvPr>
            <p:cNvCxnSpPr>
              <a:cxnSpLocks/>
            </p:cNvCxnSpPr>
            <p:nvPr/>
          </p:nvCxnSpPr>
          <p:spPr>
            <a:xfrm>
              <a:off x="8336983" y="5797217"/>
              <a:ext cx="1910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eur droit 24">
              <a:extLst>
                <a:ext uri="{FF2B5EF4-FFF2-40B4-BE49-F238E27FC236}">
                  <a16:creationId xmlns:a16="http://schemas.microsoft.com/office/drawing/2014/main" id="{78CB7382-FAAB-3318-BE27-4F56D906A3F5}"/>
                </a:ext>
              </a:extLst>
            </p:cNvPr>
            <p:cNvCxnSpPr>
              <a:cxnSpLocks/>
            </p:cNvCxnSpPr>
            <p:nvPr/>
          </p:nvCxnSpPr>
          <p:spPr>
            <a:xfrm>
              <a:off x="8701139" y="5797217"/>
              <a:ext cx="567989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F4F910BB-3FDA-A7CC-6BA8-EE8D0A362FA4}"/>
                </a:ext>
              </a:extLst>
            </p:cNvPr>
            <p:cNvCxnSpPr>
              <a:cxnSpLocks/>
            </p:cNvCxnSpPr>
            <p:nvPr/>
          </p:nvCxnSpPr>
          <p:spPr>
            <a:xfrm>
              <a:off x="9490410" y="5797217"/>
              <a:ext cx="1910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eur droit 32">
              <a:extLst>
                <a:ext uri="{FF2B5EF4-FFF2-40B4-BE49-F238E27FC236}">
                  <a16:creationId xmlns:a16="http://schemas.microsoft.com/office/drawing/2014/main" id="{14CD31D1-2FBE-45D8-AAED-B6BE73723D90}"/>
                </a:ext>
              </a:extLst>
            </p:cNvPr>
            <p:cNvCxnSpPr>
              <a:cxnSpLocks/>
            </p:cNvCxnSpPr>
            <p:nvPr/>
          </p:nvCxnSpPr>
          <p:spPr>
            <a:xfrm>
              <a:off x="11161283" y="5818072"/>
              <a:ext cx="27353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13891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6FE8175-1640-2FBA-B3D7-082009A39F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14</a:t>
            </a:fld>
            <a:endParaRPr lang="fr-FR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0D2C5D62-2415-7B4D-00CC-97FD06CCD2A9}"/>
              </a:ext>
            </a:extLst>
          </p:cNvPr>
          <p:cNvGrpSpPr/>
          <p:nvPr/>
        </p:nvGrpSpPr>
        <p:grpSpPr>
          <a:xfrm>
            <a:off x="5633987" y="445452"/>
            <a:ext cx="5454316" cy="5697139"/>
            <a:chOff x="1057175" y="705418"/>
            <a:chExt cx="4572000" cy="4780981"/>
          </a:xfrm>
        </p:grpSpPr>
        <p:pic>
          <p:nvPicPr>
            <p:cNvPr id="6" name="Image 5" descr="Une image contenant texte, capture d’écran, Police, affiche&#10;&#10;Le contenu généré par l’IA peut être incorrect.">
              <a:extLst>
                <a:ext uri="{FF2B5EF4-FFF2-40B4-BE49-F238E27FC236}">
                  <a16:creationId xmlns:a16="http://schemas.microsoft.com/office/drawing/2014/main" id="{919B72CA-F237-F03F-586B-D9E2974BB0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0671" b="9615"/>
            <a:stretch>
              <a:fillRect/>
            </a:stretch>
          </p:blipFill>
          <p:spPr>
            <a:xfrm>
              <a:off x="1057175" y="705418"/>
              <a:ext cx="4572000" cy="4780981"/>
            </a:xfrm>
            <a:prstGeom prst="rect">
              <a:avLst/>
            </a:prstGeom>
          </p:spPr>
        </p:pic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AF634934-6C41-555F-FF53-F110F7A67BF8}"/>
                </a:ext>
              </a:extLst>
            </p:cNvPr>
            <p:cNvSpPr txBox="1"/>
            <p:nvPr/>
          </p:nvSpPr>
          <p:spPr>
            <a:xfrm>
              <a:off x="2367816" y="3552684"/>
              <a:ext cx="2889484" cy="594051"/>
            </a:xfrm>
            <a:prstGeom prst="rect">
              <a:avLst/>
            </a:prstGeom>
            <a:solidFill>
              <a:srgbClr val="F8F4EB"/>
            </a:solidFill>
          </p:spPr>
          <p:txBody>
            <a:bodyPr wrap="square" rtlCol="0">
              <a:spAutoFit/>
            </a:bodyPr>
            <a:lstStyle/>
            <a:p>
              <a:r>
                <a:rPr lang="fr-FR" sz="2000" b="1" dirty="0">
                  <a:solidFill>
                    <a:srgbClr val="31515F"/>
                  </a:solidFill>
                </a:rPr>
                <a:t>Du manioc produit est exporté</a:t>
              </a:r>
            </a:p>
          </p:txBody>
        </p:sp>
      </p:grpSp>
      <p:sp>
        <p:nvSpPr>
          <p:cNvPr id="9" name="Titre 1">
            <a:extLst>
              <a:ext uri="{FF2B5EF4-FFF2-40B4-BE49-F238E27FC236}">
                <a16:creationId xmlns:a16="http://schemas.microsoft.com/office/drawing/2014/main" id="{2D0A2A24-AA49-D1BC-F5D4-875185C7FFED}"/>
              </a:ext>
            </a:extLst>
          </p:cNvPr>
          <p:cNvSpPr txBox="1">
            <a:spLocks/>
          </p:cNvSpPr>
          <p:nvPr/>
        </p:nvSpPr>
        <p:spPr>
          <a:xfrm>
            <a:off x="310467" y="675330"/>
            <a:ext cx="3635000" cy="459073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Century Gothic"/>
              <a:buNone/>
              <a:defRPr sz="4000" b="1" i="0" u="none" strike="noStrike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dirty="0"/>
              <a:t>Thaïlande :</a:t>
            </a:r>
          </a:p>
          <a:p>
            <a:r>
              <a:rPr lang="fr-FR" dirty="0"/>
              <a:t>une</a:t>
            </a:r>
          </a:p>
          <a:p>
            <a:r>
              <a:rPr lang="fr-FR" dirty="0"/>
              <a:t>production</a:t>
            </a:r>
          </a:p>
          <a:p>
            <a:r>
              <a:rPr lang="fr-FR" dirty="0"/>
              <a:t>suffisante,</a:t>
            </a:r>
          </a:p>
          <a:p>
            <a:r>
              <a:rPr lang="fr-FR" dirty="0"/>
              <a:t>mais une</a:t>
            </a:r>
          </a:p>
          <a:p>
            <a:r>
              <a:rPr lang="fr-FR" dirty="0"/>
              <a:t>distribution</a:t>
            </a:r>
          </a:p>
          <a:p>
            <a:r>
              <a:rPr lang="fr-FR" dirty="0"/>
              <a:t>inégale</a:t>
            </a:r>
          </a:p>
        </p:txBody>
      </p:sp>
    </p:spTree>
    <p:extLst>
      <p:ext uri="{BB962C8B-B14F-4D97-AF65-F5344CB8AC3E}">
        <p14:creationId xmlns:p14="http://schemas.microsoft.com/office/powerpoint/2010/main" val="1384920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A52CE5F-7D84-A5A3-9E2E-120E4F88D8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15</a:t>
            </a:fld>
            <a:endParaRPr lang="fr-FR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5D07E5C1-4791-41B4-20FF-BC442FBBE2B4}"/>
              </a:ext>
            </a:extLst>
          </p:cNvPr>
          <p:cNvSpPr txBox="1">
            <a:spLocks/>
          </p:cNvSpPr>
          <p:nvPr/>
        </p:nvSpPr>
        <p:spPr>
          <a:xfrm>
            <a:off x="310467" y="675331"/>
            <a:ext cx="3635000" cy="440344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Century Gothic"/>
              <a:buNone/>
              <a:defRPr sz="4000" b="1" i="0" u="none" strike="noStrike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3600" dirty="0"/>
              <a:t>Focus sur 2016 :</a:t>
            </a:r>
          </a:p>
          <a:p>
            <a:r>
              <a:rPr lang="fr-FR" sz="3600" dirty="0"/>
              <a:t>la priorisation</a:t>
            </a:r>
          </a:p>
          <a:p>
            <a:r>
              <a:rPr lang="fr-FR" sz="3600" dirty="0"/>
              <a:t>des aides est</a:t>
            </a:r>
          </a:p>
          <a:p>
            <a:r>
              <a:rPr lang="fr-FR" sz="3600" dirty="0"/>
              <a:t>largement</a:t>
            </a:r>
          </a:p>
          <a:p>
            <a:r>
              <a:rPr lang="fr-FR" sz="3600" dirty="0"/>
              <a:t>conditionnée</a:t>
            </a:r>
          </a:p>
          <a:p>
            <a:r>
              <a:rPr lang="fr-FR" sz="3600" dirty="0"/>
              <a:t>par la stabilité</a:t>
            </a:r>
          </a:p>
          <a:p>
            <a:r>
              <a:rPr lang="fr-FR" sz="3600" dirty="0"/>
              <a:t>géopolitique et</a:t>
            </a:r>
          </a:p>
          <a:p>
            <a:r>
              <a:rPr lang="fr-FR" sz="3600" dirty="0"/>
              <a:t>les guerres</a:t>
            </a:r>
          </a:p>
        </p:txBody>
      </p:sp>
      <p:pic>
        <p:nvPicPr>
          <p:cNvPr id="9" name="Image 8" descr="Une image contenant texte, capture d’écran, affichage, nombre&#10;&#10;Le contenu généré par l’IA peut être incorrect.">
            <a:extLst>
              <a:ext uri="{FF2B5EF4-FFF2-40B4-BE49-F238E27FC236}">
                <a16:creationId xmlns:a16="http://schemas.microsoft.com/office/drawing/2014/main" id="{B8CE38A7-B7E9-6B71-034D-1D01533B4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130" y="840089"/>
            <a:ext cx="7059576" cy="5177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249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BDA3D-F580-F186-A507-44744136D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4B0BABD-71E9-2EB2-E4D1-E3A4206010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16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A1A1197-EC8D-7874-6DAA-57799970D0E3}"/>
              </a:ext>
            </a:extLst>
          </p:cNvPr>
          <p:cNvSpPr txBox="1"/>
          <p:nvPr/>
        </p:nvSpPr>
        <p:spPr>
          <a:xfrm>
            <a:off x="1407970" y="1188223"/>
            <a:ext cx="9376059" cy="4972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3600" dirty="0">
                <a:solidFill>
                  <a:schemeClr val="bg1"/>
                </a:solidFill>
                <a:latin typeface="Century Gothic" panose="020B0502020202020204" pitchFamily="34" charset="0"/>
              </a:rPr>
              <a:t>En 2017, la production mondiale était</a:t>
            </a:r>
          </a:p>
          <a:p>
            <a:pPr algn="ctr">
              <a:lnSpc>
                <a:spcPct val="150000"/>
              </a:lnSpc>
            </a:pPr>
            <a:r>
              <a:rPr lang="fr-FR" sz="3600" dirty="0">
                <a:solidFill>
                  <a:schemeClr val="bg1"/>
                </a:solidFill>
                <a:latin typeface="Century Gothic" panose="020B0502020202020204" pitchFamily="34" charset="0"/>
              </a:rPr>
              <a:t>suffisante pour nourrir la quasi-totalité de</a:t>
            </a:r>
          </a:p>
          <a:p>
            <a:pPr algn="ctr">
              <a:lnSpc>
                <a:spcPct val="150000"/>
              </a:lnSpc>
            </a:pPr>
            <a:r>
              <a:rPr lang="fr-FR" sz="3600" dirty="0">
                <a:solidFill>
                  <a:schemeClr val="bg1"/>
                </a:solidFill>
                <a:latin typeface="Century Gothic" panose="020B0502020202020204" pitchFamily="34" charset="0"/>
              </a:rPr>
              <a:t>la population, mais des inégalités, des</a:t>
            </a:r>
          </a:p>
          <a:p>
            <a:pPr algn="ctr">
              <a:lnSpc>
                <a:spcPct val="150000"/>
              </a:lnSpc>
            </a:pPr>
            <a:r>
              <a:rPr lang="fr-FR" sz="3600" dirty="0">
                <a:solidFill>
                  <a:schemeClr val="bg1"/>
                </a:solidFill>
                <a:latin typeface="Century Gothic" panose="020B0502020202020204" pitchFamily="34" charset="0"/>
              </a:rPr>
              <a:t>choix économiques et les conflits</a:t>
            </a:r>
          </a:p>
          <a:p>
            <a:pPr algn="ctr">
              <a:lnSpc>
                <a:spcPct val="150000"/>
              </a:lnSpc>
            </a:pPr>
            <a:r>
              <a:rPr lang="fr-FR" sz="3600" dirty="0">
                <a:solidFill>
                  <a:schemeClr val="bg1"/>
                </a:solidFill>
                <a:latin typeface="Century Gothic" panose="020B0502020202020204" pitchFamily="34" charset="0"/>
              </a:rPr>
              <a:t>empêchent des millions de personnes de</a:t>
            </a:r>
          </a:p>
          <a:p>
            <a:pPr algn="ctr">
              <a:lnSpc>
                <a:spcPct val="150000"/>
              </a:lnSpc>
            </a:pPr>
            <a:r>
              <a:rPr lang="fr-FR" sz="3600" dirty="0">
                <a:solidFill>
                  <a:schemeClr val="bg1"/>
                </a:solidFill>
                <a:latin typeface="Century Gothic" panose="020B0502020202020204" pitchFamily="34" charset="0"/>
              </a:rPr>
              <a:t>manger à leur faim. </a:t>
            </a:r>
          </a:p>
        </p:txBody>
      </p:sp>
    </p:spTree>
    <p:extLst>
      <p:ext uri="{BB962C8B-B14F-4D97-AF65-F5344CB8AC3E}">
        <p14:creationId xmlns:p14="http://schemas.microsoft.com/office/powerpoint/2010/main" val="2816343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ntre guillemets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1290</TotalTime>
  <Words>527</Words>
  <Application>Microsoft Office PowerPoint</Application>
  <PresentationFormat>Grand écran</PresentationFormat>
  <Paragraphs>156</Paragraphs>
  <Slides>16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Noto Sans Symbols</vt:lpstr>
      <vt:lpstr>Century Gothic</vt:lpstr>
      <vt:lpstr>Arial</vt:lpstr>
      <vt:lpstr>Calibri</vt:lpstr>
      <vt:lpstr>Entre guillemets</vt:lpstr>
      <vt:lpstr>Étude sur l’alimentation dans le monde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JeY jEy</dc:creator>
  <cp:lastModifiedBy>Florian Mounier</cp:lastModifiedBy>
  <cp:revision>34</cp:revision>
  <dcterms:created xsi:type="dcterms:W3CDTF">2023-03-17T20:58:30Z</dcterms:created>
  <dcterms:modified xsi:type="dcterms:W3CDTF">2025-10-13T07:51:05Z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